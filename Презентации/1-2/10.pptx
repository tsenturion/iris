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unito Sans" pitchFamily="2" charset="-52"/>
      <p:regular r:id="rId13"/>
      <p:bold r:id="rId14"/>
    </p:embeddedFont>
    <p:embeddedFont>
      <p:font typeface="Nunito Sans Bold" charset="-52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723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2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85713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означает способ машинного обучения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5233360" y="2163961"/>
            <a:ext cx="6296860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Способ обучения — это </a:t>
            </a: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принцип получения информации моделью</a:t>
            </a: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а не конкретный алгоритм. Ключевой вопрос: какие данные доступны и есть ли заранее известный правильный ответ?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196134"/>
            <a:ext cx="6296860" cy="13527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539840" y="3401020"/>
            <a:ext cx="5785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Гибкость объекта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5539840" y="3783806"/>
            <a:ext cx="5785499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Один и тот же объект может использоваться в разных схемах обучения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719439"/>
            <a:ext cx="6296860" cy="13527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539840" y="4924326"/>
            <a:ext cx="5785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Приоритет данных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5539840" y="5307112"/>
            <a:ext cx="5785499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Выбор способа определяется доступной информацией, а не только желаемым результатом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33201" y="1754485"/>
            <a:ext cx="1939083" cy="287139"/>
          </a:xfrm>
          <a:prstGeom prst="roundRect">
            <a:avLst>
              <a:gd name="adj" fmla="val 22118"/>
            </a:avLst>
          </a:prstGeom>
          <a:solidFill>
            <a:srgbClr val="DFF6D5"/>
          </a:solidFill>
          <a:ln/>
        </p:spPr>
      </p:sp>
      <p:sp>
        <p:nvSpPr>
          <p:cNvPr id="4" name="Text 1"/>
          <p:cNvSpPr/>
          <p:nvPr/>
        </p:nvSpPr>
        <p:spPr>
          <a:xfrm>
            <a:off x="4746605" y="1811139"/>
            <a:ext cx="232185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SUPERVISED LEARNING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633201" y="2117229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Обучение с учителем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4633201" y="2896890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Модель получает примеры с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заранее известным правильным результатом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— целевой переменной или меткой. Она устанавливает зависимость между входными характеристиками и ожидаемым выходом.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633201" y="3974207"/>
            <a:ext cx="6903269" cy="1275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Модель сравнивает свой результат с меткой и постепенно корректируется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Качество напрямую зависит от качества разметки — ошибки в метках воспринимаются как правильные примеры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4403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Задачи обучения с учителем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1270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Применяется когда требуемый результат определён заранее. Два основных сценария: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927747"/>
            <a:ext cx="10868745" cy="1517650"/>
          </a:xfrm>
          <a:prstGeom prst="roundRect">
            <a:avLst>
              <a:gd name="adj" fmla="val 5231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825" y="2934097"/>
            <a:ext cx="5428023" cy="1504950"/>
          </a:xfrm>
          <a:custGeom>
            <a:avLst/>
            <a:gdLst/>
            <a:ahLst/>
            <a:cxnLst/>
            <a:rect l="l" t="t" r="r" b="b"/>
            <a:pathLst>
              <a:path w="5428023" h="1504950">
                <a:moveTo>
                  <a:pt x="66156" y="0"/>
                </a:moveTo>
                <a:lnTo>
                  <a:pt x="5428023" y="0"/>
                </a:lnTo>
                <a:lnTo>
                  <a:pt x="5428023" y="1504950"/>
                </a:lnTo>
                <a:lnTo>
                  <a:pt x="66156" y="1504950"/>
                </a:lnTo>
                <a:arcTo wR="66156" hR="66158" stAng="5400000" swAng="5400000"/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6" name="Text 4"/>
          <p:cNvSpPr/>
          <p:nvPr/>
        </p:nvSpPr>
        <p:spPr>
          <a:xfrm>
            <a:off x="856832" y="3123109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Классификация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6832" y="3531791"/>
            <a:ext cx="5050009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Определить категорию объекта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Пример: вредоносный файл или безопасный?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95848" y="2934097"/>
            <a:ext cx="5428023" cy="1504950"/>
          </a:xfrm>
          <a:custGeom>
            <a:avLst/>
            <a:gdLst/>
            <a:ahLst/>
            <a:cxnLst/>
            <a:rect l="l" t="t" r="r" b="b"/>
            <a:pathLst>
              <a:path w="5428023" h="1504950">
                <a:moveTo>
                  <a:pt x="0" y="0"/>
                </a:moveTo>
                <a:lnTo>
                  <a:pt x="5361866" y="0"/>
                </a:lnTo>
                <a:arcTo wR="66156" hR="66158" stAng="16200000" swAng="5400000"/>
                <a:lnTo>
                  <a:pt x="5428023" y="1438792"/>
                </a:lnTo>
                <a:arcTo wR="66156" hR="66158" stAng="0" swAng="5400000"/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9" name="Shape 7"/>
          <p:cNvSpPr/>
          <p:nvPr/>
        </p:nvSpPr>
        <p:spPr>
          <a:xfrm>
            <a:off x="6095848" y="2934097"/>
            <a:ext cx="25399" cy="1504950"/>
          </a:xfrm>
          <a:prstGeom prst="roundRect">
            <a:avLst>
              <a:gd name="adj" fmla="val 50001"/>
            </a:avLst>
          </a:prstGeom>
          <a:solidFill>
            <a:srgbClr val="C5DCBB"/>
          </a:solidFill>
          <a:ln/>
        </p:spPr>
      </p:sp>
      <p:sp>
        <p:nvSpPr>
          <p:cNvPr id="10" name="Text 8"/>
          <p:cNvSpPr/>
          <p:nvPr/>
        </p:nvSpPr>
        <p:spPr>
          <a:xfrm>
            <a:off x="6284854" y="3123109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Регрессия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284854" y="3531791"/>
            <a:ext cx="5050009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Оценить числовое значение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Пример: нагрузка, длительность, уровень риска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658023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FCF2B5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4925715"/>
            <a:ext cx="236234" cy="1890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75723" y="4894263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Основная сложность — получение качественной разметки исторических примеров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3" y="481806"/>
            <a:ext cx="4420680" cy="5894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82055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Обучение без учителя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5233360" y="1535906"/>
            <a:ext cx="6296860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Правильные ответы не предоставляются. Модель получает только данные и самостоятельно обнаруживает внутреннюю структуру, закономерности или необычные объекты.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324993"/>
            <a:ext cx="378014" cy="3780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3360" y="2854226"/>
            <a:ext cx="629686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Нет эталона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5233360" y="3162995"/>
            <a:ext cx="629686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Нельзя напрямую сравнить результат с готовой меткой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622576"/>
            <a:ext cx="378014" cy="3780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33360" y="4151809"/>
            <a:ext cx="629686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Экономия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5233360" y="4460577"/>
            <a:ext cx="629686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Особенно полезно когда разметка дорогая или полностью отсутствует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360" y="4920159"/>
            <a:ext cx="378014" cy="3780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233360" y="5449391"/>
            <a:ext cx="629686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Интерпретация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5233360" y="5758160"/>
            <a:ext cx="629686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Обнаруженная структура должна быть проверена специалистом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97942"/>
            <a:ext cx="5203794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Обнаружение структуры и аномалий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958902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Сильная сторона обучения без учителя — работа с ситуациями, которые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заранее никто не описал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Система исследует отклонения от основной структуры данных.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4036219"/>
            <a:ext cx="5203794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Выделяет необычные объекты для дальнейшей проверки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Аномалия — не обязательно атака, возможно редкое допустимое поведение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Сокращает объём информации для анализа специалистом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776" y="826988"/>
            <a:ext cx="5203794" cy="52039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650" y="475456"/>
            <a:ext cx="4430205" cy="5907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977503"/>
            <a:ext cx="6296860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Частично контролируемое обучение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661475" y="2022971"/>
            <a:ext cx="629686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Промежуточная ситуация: </a:t>
            </a:r>
            <a:r>
              <a:rPr lang="en-US" sz="11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небольшая часть данных размечена</a:t>
            </a: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большая часть остаётся неразмеченной. Оба источника используются совместно.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539405"/>
            <a:ext cx="708801" cy="8506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76536" y="2681089"/>
            <a:ext cx="5481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Большой неразмеченный массив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476536" y="2966244"/>
            <a:ext cx="5481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Даёт структуру и контекст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390007"/>
            <a:ext cx="708801" cy="8506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76536" y="3531691"/>
            <a:ext cx="5481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Малая размеченная выборка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1476536" y="3816846"/>
            <a:ext cx="5481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Даёт достоверные метки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4240609"/>
            <a:ext cx="708801" cy="85060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76536" y="4382294"/>
            <a:ext cx="5481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Совместное обучение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1476536" y="4667448"/>
            <a:ext cx="5481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Лучший результат при меньших затратах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661475" y="5210770"/>
            <a:ext cx="6296860" cy="669627"/>
          </a:xfrm>
          <a:prstGeom prst="roundRect">
            <a:avLst>
              <a:gd name="adj" fmla="val 8892"/>
            </a:avLst>
          </a:prstGeom>
          <a:solidFill>
            <a:srgbClr val="DFF6D5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156" y="5368131"/>
            <a:ext cx="177200" cy="14168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22037" y="5352455"/>
            <a:ext cx="5694617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Характерно для ИБ: логи генерируются автоматически, но разметка требует аналитика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33201" y="1274961"/>
            <a:ext cx="2345076" cy="287139"/>
          </a:xfrm>
          <a:prstGeom prst="roundRect">
            <a:avLst>
              <a:gd name="adj" fmla="val 22118"/>
            </a:avLst>
          </a:prstGeom>
          <a:solidFill>
            <a:srgbClr val="DFF6D5"/>
          </a:solidFill>
          <a:ln/>
        </p:spPr>
      </p:sp>
      <p:sp>
        <p:nvSpPr>
          <p:cNvPr id="4" name="Text 1"/>
          <p:cNvSpPr/>
          <p:nvPr/>
        </p:nvSpPr>
        <p:spPr>
          <a:xfrm>
            <a:off x="4746605" y="1331615"/>
            <a:ext cx="272785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SELF-SUPERVISED LEARNING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633201" y="1637705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Самообучение на структуре данных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4633201" y="3008015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Обучающий сигнал формируется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автоматически из самих данных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Модель восстанавливает скрытую часть, предсказывает следующий элемент или определяет связь между представлениями объекта.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633201" y="4085332"/>
            <a:ext cx="6903269" cy="164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 требует ручной разметки каждого примера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Огромные неразмеченные массивы превращаются в обучающий материал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После предобучения модель обладает полезными внутренними представлениями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8770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Обучение с подкреплением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476573"/>
            <a:ext cx="1086874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Система взаимодействует со средой, выполняет действия и получает </a:t>
            </a:r>
            <a:r>
              <a:rPr lang="en-US" sz="13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обратную связь в форме вознаграждения</a:t>
            </a: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Цель — научиться выбирать действия с наилучшим исходом.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4881" y="2165945"/>
            <a:ext cx="6641835" cy="32466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77701" y="3283003"/>
            <a:ext cx="1548412" cy="193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Действие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601626" y="2539747"/>
            <a:ext cx="1548412" cy="193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Среда реагирует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063139" y="4067552"/>
            <a:ext cx="2152831" cy="193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Получение вознаграждения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45239" y="4824573"/>
            <a:ext cx="1727340" cy="193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Обновление стратегии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1475" y="5584825"/>
            <a:ext cx="10868745" cy="634305"/>
          </a:xfrm>
          <a:prstGeom prst="roundRect">
            <a:avLst>
              <a:gd name="adj" fmla="val 11264"/>
            </a:avLst>
          </a:prstGeom>
          <a:solidFill>
            <a:srgbClr val="FCF2B5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" y="5803007"/>
            <a:ext cx="212620" cy="1700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14209" y="5780385"/>
            <a:ext cx="1075554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Для реальной инфраструктуры требует осторожности — обычно применяется в симуляции или ограниченной среде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91010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Активное обучение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670671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Модель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сама указывает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какие примеры ей полезно разметить — выбирает случаи наибольшей неопределённости или максимальной пользы для улучшения границ.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747988"/>
            <a:ext cx="6903269" cy="1341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Эффективнее использует дорогое экспертное время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Направляет внимание специалиста на неоднозначные случаи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 устраняет человека, а направляет его туда, где решение принесёт наибольшую пользу</a:t>
            </a:r>
            <a:endParaRPr lang="en-US" sz="1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251" y="1676797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879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Выбор способа обучения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56581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Выбор начинается с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анализа доступных данных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а не с названия алгоритма. В реальных системах способы часто сочетаются.</a:t>
            </a:r>
            <a:endParaRPr lang="en-US" sz="14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674045"/>
          <a:ext cx="10868745" cy="914400"/>
        </p:xfrm>
        <a:graphic>
          <a:graphicData uri="http://schemas.openxmlformats.org/drawingml/2006/table">
            <a:tbl>
              <a:tblPr/>
              <a:tblGrid>
                <a:gridCol w="4890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7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50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272525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Ситуация</a:t>
                      </a:r>
                      <a:endParaRPr lang="en-US" sz="14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5D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09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9F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b="1" dirty="0">
                          <a:solidFill>
                            <a:srgbClr val="272525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Подход</a:t>
                      </a:r>
                      <a:endParaRPr lang="en-US" sz="14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09F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9F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2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Достаточно размеченных примеров</a:t>
                      </a:r>
                      <a:endParaRPr lang="en-US" sz="14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5D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Обучение с учителем</a:t>
                      </a:r>
                      <a:endParaRPr lang="en-US" sz="14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2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Нет меток, нужна структура</a:t>
                      </a:r>
                      <a:endParaRPr lang="en-US" sz="14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5D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Обучение без учителя</a:t>
                      </a:r>
                      <a:endParaRPr lang="en-US" sz="14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2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Мало меток, большой массив</a:t>
                      </a:r>
                      <a:endParaRPr lang="en-US" sz="14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5D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Частично контролируемое обучение</a:t>
                      </a:r>
                      <a:endParaRPr lang="en-US" sz="14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2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Сигнал из структуры данных</a:t>
                      </a:r>
                      <a:endParaRPr lang="en-US" sz="14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5D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Самообучение</a:t>
                      </a:r>
                      <a:endParaRPr lang="en-US" sz="14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50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Выбор действий и обратная связь</a:t>
                      </a:r>
                      <a:endParaRPr lang="en-US" sz="14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C5D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000000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Обучение с подкреплением</a:t>
                      </a:r>
                      <a:endParaRPr lang="en-US" sz="145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522</Words>
  <Application>Microsoft Office PowerPoint</Application>
  <PresentationFormat>Широкоэкранный</PresentationFormat>
  <Paragraphs>84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Nunito Sans</vt:lpstr>
      <vt:lpstr>Nunito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2026-10-06T07:58:50Z</dcterms:created>
  <dcterms:modified xsi:type="dcterms:W3CDTF">2026-10-06T08:31:41Z</dcterms:modified>
</cp:coreProperties>
</file>