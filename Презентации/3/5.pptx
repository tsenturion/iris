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Nunito Sans" pitchFamily="2" charset="-52"/>
      <p:regular r:id="rId13"/>
      <p:italic r:id="rId14"/>
    </p:embeddedFont>
    <p:embeddedFont>
      <p:font typeface="Nunito Sans Bold" charset="-52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3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4960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66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374080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Качество классификации в контексте безопасности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5233360" y="2582962"/>
            <a:ext cx="6296860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Оценка ML-модели для сетевого трафика — это не просто процент правильных ответов. Две модели с одинаковой точностью могут иметь совершенно разную практическую ценность.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233360" y="3449737"/>
            <a:ext cx="6296860" cy="2034183"/>
          </a:xfrm>
          <a:prstGeom prst="roundRect">
            <a:avLst>
              <a:gd name="adj" fmla="val 3317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239710" y="3456087"/>
            <a:ext cx="3142080" cy="1129605"/>
          </a:xfrm>
          <a:custGeom>
            <a:avLst/>
            <a:gdLst/>
            <a:ahLst/>
            <a:cxnLst/>
            <a:rect l="l" t="t" r="r" b="b"/>
            <a:pathLst>
              <a:path w="3142080" h="1129605">
                <a:moveTo>
                  <a:pt x="56233" y="0"/>
                </a:moveTo>
                <a:lnTo>
                  <a:pt x="3142080" y="0"/>
                </a:lnTo>
                <a:lnTo>
                  <a:pt x="3142080" y="1129605"/>
                </a:lnTo>
                <a:lnTo>
                  <a:pt x="0" y="1129605"/>
                </a:lnTo>
                <a:lnTo>
                  <a:pt x="0" y="56234"/>
                </a:lnTo>
                <a:arcTo wR="56233" hR="56234" stAng="10800000" swAng="5400000"/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8" name="Text 5"/>
          <p:cNvSpPr/>
          <p:nvPr/>
        </p:nvSpPr>
        <p:spPr>
          <a:xfrm>
            <a:off x="5400341" y="3616722"/>
            <a:ext cx="28208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Ложное срабатывание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5400341" y="3949601"/>
            <a:ext cx="282081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Нормальное соединение признано атакой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381790" y="3456087"/>
            <a:ext cx="3142080" cy="1129605"/>
          </a:xfrm>
          <a:custGeom>
            <a:avLst/>
            <a:gdLst/>
            <a:ahLst/>
            <a:cxnLst/>
            <a:rect l="l" t="t" r="r" b="b"/>
            <a:pathLst>
              <a:path w="3142080" h="1129605">
                <a:moveTo>
                  <a:pt x="0" y="0"/>
                </a:moveTo>
                <a:lnTo>
                  <a:pt x="3085847" y="0"/>
                </a:lnTo>
                <a:arcTo wR="56233" hR="56234" stAng="16200000" swAng="5400000"/>
                <a:lnTo>
                  <a:pt x="3142080" y="1129605"/>
                </a:lnTo>
                <a:lnTo>
                  <a:pt x="0" y="1129605"/>
                </a:lnTo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1" name="Shape 8"/>
          <p:cNvSpPr/>
          <p:nvPr/>
        </p:nvSpPr>
        <p:spPr>
          <a:xfrm>
            <a:off x="8381790" y="3456087"/>
            <a:ext cx="19050" cy="1129605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2" name="Text 9"/>
          <p:cNvSpPr/>
          <p:nvPr/>
        </p:nvSpPr>
        <p:spPr>
          <a:xfrm>
            <a:off x="8542421" y="3616722"/>
            <a:ext cx="282081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Пропуск угрозы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8542421" y="3949601"/>
            <a:ext cx="2820818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Реальная атака осталась незамеченной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239710" y="4585692"/>
            <a:ext cx="6284160" cy="891877"/>
          </a:xfrm>
          <a:custGeom>
            <a:avLst/>
            <a:gdLst/>
            <a:ahLst/>
            <a:cxnLst/>
            <a:rect l="l" t="t" r="r" b="b"/>
            <a:pathLst>
              <a:path w="6284160" h="891877">
                <a:moveTo>
                  <a:pt x="0" y="0"/>
                </a:moveTo>
                <a:lnTo>
                  <a:pt x="6284160" y="0"/>
                </a:lnTo>
                <a:lnTo>
                  <a:pt x="6284160" y="835643"/>
                </a:lnTo>
                <a:arcTo wR="56233" hR="56234" stAng="0" swAng="5400000"/>
                <a:lnTo>
                  <a:pt x="56233" y="891877"/>
                </a:lnTo>
                <a:arcTo wR="56233" hR="56234" stAng="5400000" swAng="5400000"/>
                <a:lnTo>
                  <a:pt x="0" y="0"/>
                </a:lnTo>
                <a:close/>
              </a:path>
            </a:pathLst>
          </a:custGeom>
          <a:solidFill>
            <a:srgbClr val="DFF6D5"/>
          </a:solidFill>
          <a:ln/>
        </p:spPr>
      </p:sp>
      <p:sp>
        <p:nvSpPr>
          <p:cNvPr id="15" name="Shape 12"/>
          <p:cNvSpPr/>
          <p:nvPr/>
        </p:nvSpPr>
        <p:spPr>
          <a:xfrm>
            <a:off x="5239710" y="4585692"/>
            <a:ext cx="6284160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6" name="Text 13"/>
          <p:cNvSpPr/>
          <p:nvPr/>
        </p:nvSpPr>
        <p:spPr>
          <a:xfrm>
            <a:off x="5400341" y="4746327"/>
            <a:ext cx="5962898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Контекст применения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5400341" y="5079206"/>
            <a:ext cx="5962898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Сортировка или автоматическая блокировка?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7120"/>
            <a:ext cx="10868745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Матрица ошибок как основа анализа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923" y="1616075"/>
            <a:ext cx="2898206" cy="28982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2785070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Матрица ошибок показывает не просто итоговую точность, а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направление ошибок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что именно модель путает и в какую сторону.</a:t>
            </a:r>
            <a:endParaRPr lang="en-US" sz="14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898132"/>
            <a:ext cx="3509180" cy="135274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67954" y="5103019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Истинно положительный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967954" y="5485805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Опасный поток верно определён как опасный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1208" y="4898132"/>
            <a:ext cx="3509180" cy="13527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47687" y="5103019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Истинно отрицательный</a:t>
            </a:r>
            <a:endParaRPr lang="en-US" sz="1750" dirty="0"/>
          </a:p>
        </p:txBody>
      </p:sp>
      <p:sp>
        <p:nvSpPr>
          <p:cNvPr id="10" name="Text 5"/>
          <p:cNvSpPr/>
          <p:nvPr/>
        </p:nvSpPr>
        <p:spPr>
          <a:xfrm>
            <a:off x="4647687" y="5485805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Безопасный поток верно признан безопасным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0941" y="4898132"/>
            <a:ext cx="3509180" cy="13527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327420" y="5103019"/>
            <a:ext cx="2997820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Ошибки классификации</a:t>
            </a:r>
            <a:endParaRPr lang="en-US" sz="1750" dirty="0"/>
          </a:p>
        </p:txBody>
      </p:sp>
      <p:sp>
        <p:nvSpPr>
          <p:cNvPr id="13" name="Text 7"/>
          <p:cNvSpPr/>
          <p:nvPr/>
        </p:nvSpPr>
        <p:spPr>
          <a:xfrm>
            <a:off x="8327420" y="5485805"/>
            <a:ext cx="299782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Неверное отнесение к классу в обе стороны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0075" y="488057"/>
            <a:ext cx="4411254" cy="58818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67904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Почему одной точности недостаточно</a:t>
            </a:r>
            <a:endParaRPr lang="en-US" sz="3150" dirty="0"/>
          </a:p>
        </p:txBody>
      </p:sp>
      <p:sp>
        <p:nvSpPr>
          <p:cNvPr id="5" name="Text 2"/>
          <p:cNvSpPr/>
          <p:nvPr/>
        </p:nvSpPr>
        <p:spPr>
          <a:xfrm>
            <a:off x="661475" y="2513310"/>
            <a:ext cx="2952478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Ловушка несбалансированных классов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661475" y="3151882"/>
            <a:ext cx="2952478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Если из 100 000 потоков лишь 100 — атаки, модель, признающая </a:t>
            </a:r>
            <a:r>
              <a:rPr lang="en-US" sz="1250" i="1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всё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нормальным, получит </a:t>
            </a:r>
            <a:r>
              <a:rPr lang="en-US" sz="1250" b="1" dirty="0">
                <a:solidFill>
                  <a:srgbClr val="409F42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99,9% accuracy</a:t>
            </a: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— и не обнаружит ни одной угрозы.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012207" y="2513310"/>
            <a:ext cx="2952478" cy="5020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нужно измерять отдельно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4012207" y="3151882"/>
            <a:ext cx="2952478" cy="15218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Насколько хорошо обнаруживается опасный класс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Сколько ложных срабатываний генерирует модель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Как ведёт себя модель на редких событиях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1475" y="4875014"/>
            <a:ext cx="6296860" cy="814983"/>
          </a:xfrm>
          <a:prstGeom prst="roundRect">
            <a:avLst>
              <a:gd name="adj" fmla="val 8280"/>
            </a:avLst>
          </a:prstGeom>
          <a:solidFill>
            <a:srgbClr val="FCF2B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06" y="5069780"/>
            <a:ext cx="200814" cy="16063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3551" y="5051623"/>
            <a:ext cx="5614153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Высокая accuracy не является доказательством хорошей работы системы защиты.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5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Precision и цена ложных тревог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17278"/>
            <a:ext cx="4297354" cy="42974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6336" y="2691805"/>
            <a:ext cx="61101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означает низкий Precision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426336" y="3176091"/>
            <a:ext cx="611013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Аналитики тратят основное время на отбрасывание ошибочных срабатываний вместо расследования реальных угроз.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26336" y="3969941"/>
            <a:ext cx="61101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Операционный эффект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6336" y="4454227"/>
            <a:ext cx="611013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Precision напрямую определяет нагрузку на команду безопасности. Чрезмерное его повышение, однако, ведёт к пропуску атак.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5412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101427"/>
            <a:ext cx="6296860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Recall и риск пропущенной атаки</a:t>
            </a:r>
            <a:endParaRPr lang="en-US" sz="2950" dirty="0"/>
          </a:p>
        </p:txBody>
      </p:sp>
      <p:sp>
        <p:nvSpPr>
          <p:cNvPr id="5" name="Text 2"/>
          <p:cNvSpPr/>
          <p:nvPr/>
        </p:nvSpPr>
        <p:spPr>
          <a:xfrm>
            <a:off x="968748" y="1830884"/>
            <a:ext cx="2458182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70%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661475" y="2496245"/>
            <a:ext cx="307282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Recall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661475" y="2805013"/>
            <a:ext cx="307282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Из 100 вредоносных потоков обнаружено 70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192780" y="1830884"/>
            <a:ext cx="2458182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30</a:t>
            </a:r>
            <a:endParaRPr lang="en-US" sz="3900" dirty="0"/>
          </a:p>
        </p:txBody>
      </p:sp>
      <p:sp>
        <p:nvSpPr>
          <p:cNvPr id="9" name="Text 6"/>
          <p:cNvSpPr/>
          <p:nvPr/>
        </p:nvSpPr>
        <p:spPr>
          <a:xfrm>
            <a:off x="3885507" y="2496245"/>
            <a:ext cx="307282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Пропущено атак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3885507" y="2805013"/>
            <a:ext cx="3072827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Ложноотрицательные результаты с серьёзными последствиями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580714" y="3557885"/>
            <a:ext cx="2458182" cy="49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100%</a:t>
            </a:r>
            <a:endParaRPr lang="en-US" sz="3900" dirty="0"/>
          </a:p>
        </p:txBody>
      </p:sp>
      <p:sp>
        <p:nvSpPr>
          <p:cNvPr id="12" name="Text 9"/>
          <p:cNvSpPr/>
          <p:nvPr/>
        </p:nvSpPr>
        <p:spPr>
          <a:xfrm>
            <a:off x="2273442" y="4223246"/>
            <a:ext cx="3072827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Теоретический максимум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2273442" y="4532015"/>
            <a:ext cx="3072827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Достигается признанием всего трафика подозрительным — система становится бесполезной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61475" y="5321102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Реальная задача — поиск </a:t>
            </a: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разумного баланса</a:t>
            </a: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между обнаружением угроз и количеством ложных тревог.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361678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F1-мера и выбор рабочего порога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8440" y="2526903"/>
            <a:ext cx="4141485" cy="24580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40976" y="4315630"/>
            <a:ext cx="1029479" cy="396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Высокий порог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43551" y="4315630"/>
            <a:ext cx="1029479" cy="396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Оптимальный порог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2324972" y="4315630"/>
            <a:ext cx="1029478" cy="396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Низкий порог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72226" y="2136477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Что такое F1-мера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972226" y="2493665"/>
            <a:ext cx="3564245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Объединяет Precision и Recall в одно значение. Высокая F1 — хорошее обнаружение без чрезмерных ложных срабатываний.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972226" y="3267670"/>
            <a:ext cx="35642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Роль порога вероятности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972226" y="3624858"/>
            <a:ext cx="3564245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Классификатор выдаёт вероятность (например, 0,72), а не жёсткий класс. Порог определяет, когда поток считается подозрительным.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972226" y="4413945"/>
            <a:ext cx="3564245" cy="946348"/>
          </a:xfrm>
          <a:prstGeom prst="roundRect">
            <a:avLst>
              <a:gd name="adj" fmla="val 6711"/>
            </a:avLst>
          </a:prstGeom>
          <a:solidFill>
            <a:srgbClr val="DFF6D5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3431" y="4599087"/>
            <a:ext cx="189007" cy="15120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8463644" y="4560590"/>
            <a:ext cx="2921621" cy="653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Рабочий порог должен выбираться с учётом реальной стоимости ошибок в конкретной системе.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4838" y="494407"/>
            <a:ext cx="4401730" cy="586918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849412"/>
            <a:ext cx="6296860" cy="10632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Дисбаланс классов в сетевом трафике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661475" y="2295327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Природа проблемы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61475" y="2714129"/>
            <a:ext cx="2940969" cy="1292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В реальной сети нормальной активности несравнимо больше, чем атак. Редкие типы угроз могут быть представлены десятками примеров из миллионов потоков.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23716" y="2295327"/>
            <a:ext cx="2940969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Чем это опасно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4023716" y="2714129"/>
            <a:ext cx="2940969" cy="21756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Модель учится распознавать преимущественно основной класс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Редкие атаки остаются в «слепой зоне»</a:t>
            </a:r>
            <a:endParaRPr lang="en-US" sz="1300" dirty="0"/>
          </a:p>
          <a:p>
            <a:pPr marL="264160" indent="-264160" algn="l">
              <a:lnSpc>
                <a:spcPct val="127000"/>
              </a:lnSpc>
              <a:buSzPct val="100000"/>
              <a:buChar char="•"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Общая средняя метрика скрывает провалы по отдельным классам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61475" y="5115620"/>
            <a:ext cx="6296860" cy="892870"/>
          </a:xfrm>
          <a:prstGeom prst="roundRect">
            <a:avLst>
              <a:gd name="adj" fmla="val 8002"/>
            </a:avLst>
          </a:prstGeom>
          <a:solidFill>
            <a:srgbClr val="DFF6D5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32" y="5333802"/>
            <a:ext cx="212620" cy="1700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4209" y="5311180"/>
            <a:ext cx="5574069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Качество необходимо анализировать отдельно по каждому значимому классу угроз.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30535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Переносимость модели между сетями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17278"/>
            <a:ext cx="4297354" cy="429746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26336" y="2389386"/>
            <a:ext cx="61101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Почему результаты не переносятся автоматически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426336" y="2873673"/>
            <a:ext cx="611013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Корпоративные сети отличаются приложениями, архитектурой и поведением пользователей. Модель может выучить закономерности, специфичные для среды сбора данных.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26336" y="3969941"/>
            <a:ext cx="61101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Единственный способ проверить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5426336" y="4454227"/>
            <a:ext cx="611013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Тестирование непосредственно на целевой инфраструктуре. Высокие результаты на публичных датасетах — не гарантия промышленного качества.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DFF6D5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3" y="481806"/>
            <a:ext cx="4420680" cy="58943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1060549"/>
            <a:ext cx="6296860" cy="9449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Concept Drift — изменение трафика со временем</a:t>
            </a:r>
            <a:endParaRPr lang="en-US" sz="2950" dirty="0"/>
          </a:p>
        </p:txBody>
      </p:sp>
      <p:sp>
        <p:nvSpPr>
          <p:cNvPr id="5" name="Shape 2"/>
          <p:cNvSpPr/>
          <p:nvPr/>
        </p:nvSpPr>
        <p:spPr>
          <a:xfrm>
            <a:off x="5403417" y="2186880"/>
            <a:ext cx="19050" cy="303907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6" name="Shape 3"/>
          <p:cNvSpPr/>
          <p:nvPr/>
        </p:nvSpPr>
        <p:spPr>
          <a:xfrm>
            <a:off x="5554474" y="2347416"/>
            <a:ext cx="453617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7" name="Shape 4"/>
          <p:cNvSpPr/>
          <p:nvPr/>
        </p:nvSpPr>
        <p:spPr>
          <a:xfrm>
            <a:off x="5233311" y="2186880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89963" y="2215207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1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159544" y="2238772"/>
            <a:ext cx="537067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Внедрение модели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159544" y="2547541"/>
            <a:ext cx="537067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Хорошее качество на актуальных данных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554474" y="3167658"/>
            <a:ext cx="453617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2" name="Shape 9"/>
          <p:cNvSpPr/>
          <p:nvPr/>
        </p:nvSpPr>
        <p:spPr>
          <a:xfrm>
            <a:off x="5233311" y="3007122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289963" y="3035449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2</a:t>
            </a: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6159544" y="3059013"/>
            <a:ext cx="537067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Изменение среды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159544" y="3367782"/>
            <a:ext cx="537067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Новые приложения, протоколы, обновления ПО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554474" y="3987899"/>
            <a:ext cx="453617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17" name="Shape 14"/>
          <p:cNvSpPr/>
          <p:nvPr/>
        </p:nvSpPr>
        <p:spPr>
          <a:xfrm>
            <a:off x="5233311" y="3827363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289963" y="3855690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3</a:t>
            </a:r>
            <a:endParaRPr lang="en-US" sz="1750" dirty="0"/>
          </a:p>
        </p:txBody>
      </p:sp>
      <p:sp>
        <p:nvSpPr>
          <p:cNvPr id="19" name="Text 16"/>
          <p:cNvSpPr/>
          <p:nvPr/>
        </p:nvSpPr>
        <p:spPr>
          <a:xfrm>
            <a:off x="6159544" y="3879255"/>
            <a:ext cx="537067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Смещение профиля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6159544" y="4188023"/>
            <a:ext cx="537067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Нормальное поведение отличается от обучающих данных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554474" y="4808141"/>
            <a:ext cx="453617" cy="19050"/>
          </a:xfrm>
          <a:prstGeom prst="roundRect">
            <a:avLst>
              <a:gd name="adj" fmla="val 49999"/>
            </a:avLst>
          </a:prstGeom>
          <a:solidFill>
            <a:srgbClr val="C5DCBB"/>
          </a:solidFill>
          <a:ln/>
        </p:spPr>
      </p:sp>
      <p:sp>
        <p:nvSpPr>
          <p:cNvPr id="22" name="Shape 19"/>
          <p:cNvSpPr/>
          <p:nvPr/>
        </p:nvSpPr>
        <p:spPr>
          <a:xfrm>
            <a:off x="5233311" y="4647605"/>
            <a:ext cx="340213" cy="340221"/>
          </a:xfrm>
          <a:prstGeom prst="roundRect">
            <a:avLst>
              <a:gd name="adj" fmla="val 18668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289963" y="4675932"/>
            <a:ext cx="226808" cy="2834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4</a:t>
            </a:r>
            <a:endParaRPr lang="en-US" sz="1750" dirty="0"/>
          </a:p>
        </p:txBody>
      </p:sp>
      <p:sp>
        <p:nvSpPr>
          <p:cNvPr id="24" name="Text 21"/>
          <p:cNvSpPr/>
          <p:nvPr/>
        </p:nvSpPr>
        <p:spPr>
          <a:xfrm>
            <a:off x="6159544" y="4699496"/>
            <a:ext cx="5370676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Деградация качества</a:t>
            </a:r>
            <a:endParaRPr lang="en-US" sz="1450" dirty="0"/>
          </a:p>
        </p:txBody>
      </p:sp>
      <p:sp>
        <p:nvSpPr>
          <p:cNvPr id="25" name="Text 22"/>
          <p:cNvSpPr/>
          <p:nvPr/>
        </p:nvSpPr>
        <p:spPr>
          <a:xfrm>
            <a:off x="6159544" y="5008265"/>
            <a:ext cx="5370676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Рост ошибок, необходимость переобучения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233360" y="5361980"/>
            <a:ext cx="6296860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Качество классификатора нельзя измерить один раз и считать установленным навсегда — необходим </a:t>
            </a:r>
            <a:r>
              <a:rPr lang="en-US" sz="11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регулярный мониторинг</a:t>
            </a:r>
            <a:r>
              <a:rPr lang="en-US" sz="115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распределения результатов.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3286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50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Ограничения ML-классификации в реальной сети</a:t>
            </a:r>
            <a:endParaRPr lang="en-US" sz="3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8732" y="2143423"/>
            <a:ext cx="2824687" cy="282475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165" y="2268141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Фундаментальные ограничения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25165" y="2719189"/>
            <a:ext cx="6911306" cy="959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Решения на основе паттернов, а не понимания причин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Шифрование скрывает содержимое потоков</a:t>
            </a:r>
            <a:endParaRPr lang="en-US" sz="1400" dirty="0"/>
          </a:p>
          <a:p>
            <a:pPr marL="284480" indent="-284480" algn="l">
              <a:lnSpc>
                <a:spcPct val="130000"/>
              </a:lnSpc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Злоумышленник может изменить профиль атаки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25165" y="3849291"/>
            <a:ext cx="691130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C0C0C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ML как аналитический компонент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625165" y="4300339"/>
            <a:ext cx="6911306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Классификация автоматизирует обработку больших объёмов данных, но </a:t>
            </a:r>
            <a:r>
              <a:rPr lang="en-US" sz="140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не заменяет</a:t>
            </a:r>
            <a:r>
              <a:rPr lang="en-US" sz="1400" dirty="0">
                <a:solidFill>
                  <a:srgbClr val="000000"/>
                </a:solidFill>
                <a:latin typeface="Nunito Sans" pitchFamily="34" charset="0"/>
                <a:ea typeface="Nunito Sans" pitchFamily="34" charset="-122"/>
                <a:cs typeface="Nunito Sans" pitchFamily="34" charset="-120"/>
              </a:rPr>
              <a:t> другие средства защиты.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61475" y="5351959"/>
            <a:ext cx="3509180" cy="932656"/>
          </a:xfrm>
          <a:prstGeom prst="roundRect">
            <a:avLst>
              <a:gd name="adj" fmla="val 8086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7307" y="5537795"/>
            <a:ext cx="313751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Контроль качества на реальном трафике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4341208" y="5351959"/>
            <a:ext cx="3509180" cy="932656"/>
          </a:xfrm>
          <a:prstGeom prst="roundRect">
            <a:avLst>
              <a:gd name="adj" fmla="val 8086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27040" y="5537795"/>
            <a:ext cx="3137516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Учёт разных типов ошибок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8020941" y="5351959"/>
            <a:ext cx="3509180" cy="932656"/>
          </a:xfrm>
          <a:prstGeom prst="roundRect">
            <a:avLst>
              <a:gd name="adj" fmla="val 8086"/>
            </a:avLst>
          </a:prstGeom>
          <a:solidFill>
            <a:srgbClr val="DFF6D5"/>
          </a:solidFill>
          <a:ln w="6350">
            <a:solidFill>
              <a:srgbClr val="C5DCB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06773" y="5537795"/>
            <a:ext cx="3137516" cy="560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Nunito Sans Bold" pitchFamily="34" charset="0"/>
                <a:ea typeface="Nunito Sans Bold" pitchFamily="34" charset="-122"/>
                <a:cs typeface="Nunito Sans Bold" pitchFamily="34" charset="-120"/>
              </a:rPr>
              <a:t>Мониторинг изменений среды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Широкоэкранный</PresentationFormat>
  <Paragraphs>96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Arial</vt:lpstr>
      <vt:lpstr>Nunito Sans</vt:lpstr>
      <vt:lpstr>Nunito Sans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Ефимов Матвей Александрович</cp:lastModifiedBy>
  <cp:revision>2</cp:revision>
  <dcterms:created xsi:type="dcterms:W3CDTF">2026-10-06T21:12:00Z</dcterms:created>
  <dcterms:modified xsi:type="dcterms:W3CDTF">2026-10-06T21:12:50Z</dcterms:modified>
</cp:coreProperties>
</file>