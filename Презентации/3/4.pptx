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44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48841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Определение цели классификации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341662"/>
            <a:ext cx="629686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Первый этап — точная постановка задачи. Нужно выбрать критерий: тип приложения, характер активности или угроза безопасности. Одно и то же соединение интерпретируется по-разному в зависимости от практической цели.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10928" y="3548162"/>
            <a:ext cx="3185834" cy="2260997"/>
          </a:xfrm>
          <a:prstGeom prst="roundRect">
            <a:avLst>
              <a:gd name="adj" fmla="val 5417"/>
            </a:avLst>
          </a:prstGeom>
          <a:solidFill>
            <a:srgbClr val="061B40"/>
          </a:solidFill>
          <a:ln/>
        </p:spPr>
      </p:sp>
      <p:sp>
        <p:nvSpPr>
          <p:cNvPr id="7" name="Text 4"/>
          <p:cNvSpPr/>
          <p:nvPr/>
        </p:nvSpPr>
        <p:spPr>
          <a:xfrm>
            <a:off x="5280984" y="3701256"/>
            <a:ext cx="28457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Ключевой принцип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80984" y="4120059"/>
            <a:ext cx="2845721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Классы должны быть конкретными и соответствовать реальным сценариям — не объединять разнородные явления под одним названием.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5601" y="3701256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Три возможных критерия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95601" y="4120059"/>
            <a:ext cx="2940969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Тип приложения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что именно передаётся.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Характер активности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как ведёт себя соединение.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Угроза безопасности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является ли трафик вредоносным.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Сбор репрезентативных 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3817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публичные датасеты не всегда подходят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722463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Обучающий набор должен отражать реальную среду развёртывания. Публичные датасеты различаются по приложениям, архитектуре и поведению пользователей — они могут не соответствовать конкретной организации.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12115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— часть данных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605437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 сборе важно сохранять время, источник и сценарий получения. Это помогает правильно разделить выборку и избежать искусственного упрощения задачи.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11995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Разметка обучающих примеров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3060799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Откуда берётся метка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3511848"/>
            <a:ext cx="2929360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сетевой безопасности принадлежность к атаке не всегда видна из самого потока. Метка может основываться на известном сценарии, результатах анализа или внешних источниках.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05946" y="2890242"/>
            <a:ext cx="3188116" cy="2455664"/>
          </a:xfrm>
          <a:prstGeom prst="roundRect">
            <a:avLst>
              <a:gd name="adj" fmla="val 5265"/>
            </a:avLst>
          </a:prstGeom>
          <a:solidFill>
            <a:srgbClr val="061B40"/>
          </a:solidFill>
          <a:ln/>
        </p:spPr>
      </p:sp>
      <p:sp>
        <p:nvSpPr>
          <p:cNvPr id="8" name="Text 5"/>
          <p:cNvSpPr/>
          <p:nvPr/>
        </p:nvSpPr>
        <p:spPr>
          <a:xfrm>
            <a:off x="4085428" y="3060799"/>
            <a:ext cx="282915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Критичность качества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085428" y="3511848"/>
            <a:ext cx="2829152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не может самостоятельно исправить ошибочные метки — она будет их воспроизводить. Качество разметки определяет потолок качества модели.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7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Подготовка единой структуры 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57043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Проверить артефакты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Удалить утечки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Обработать пропуски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Объединить формат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5140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Каждая строка — один объект, каждый столбец — один признак. Если идентификатор эксперимента связан с типом атаки, модель выучит этот артефакт вместо реального поведения трафика.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Разделение на обучение и проверку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89386"/>
            <a:ext cx="59968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Проблема случайного разделения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73673"/>
            <a:ext cx="59968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Простое случайное разделение может быть недостаточным — похожие потоки из одной сессии или сценария могут попасть в обе части, создавая иллюзию высокого качества.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969941"/>
            <a:ext cx="59968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Правильный подход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454227"/>
            <a:ext cx="59968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Разделять по происхождению: разные периоды времени, хосты или сценарии. Это создаёт условия, близкие к реальному применению модели.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812" y="1660624"/>
            <a:ext cx="4410659" cy="4410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7117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Выбор подходящего алгоритма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233360" y="1453952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0341" y="1620937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Логистическая регрессия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00341" y="1953816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Быстрая, объяснимая базовая точка сравнения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33360" y="2495054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0341" y="2662039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Случайный лес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400341" y="2994918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Устойчив к шуму, хорошо работает на табличных данных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3536156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0341" y="3703141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Градиентный бустинг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00341" y="4036020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Высокое качество, требует настройки гиперпараметров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3360" y="4577259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0341" y="4744244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SVM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400341" y="5077123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Эффективен при чётких границах между классами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33360" y="5635427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Выбор зависит не только от качества на тестовых данных, но и от скорости обработки, объяснимости и доступных ресурсов.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 и настройка параметров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8938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происходит при обучении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87367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получает признаки и классы, затем настраивает внутренние параметры, формируя математическую границу между классами. Модель не запоминает правила — она обобщает зависимости.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96994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Контроль переобучения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454227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Необходимо использовать проверочную часть данных и параметры, ограничивающие сложность модели — иначе она адаптируется к шуму обучающей выборки.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1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Бинарная и многоклассовая классификация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73932"/>
            <a:ext cx="4184049" cy="4184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13031" y="3028454"/>
            <a:ext cx="62234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Ключевое ограничение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313031" y="3512741"/>
            <a:ext cx="622344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Количество классов должно соответствовать информативности признаков. Нельзя искусственно увеличивать детализацию, если данные не содержат различающих характеристик — модель не сможет провести границу там, где её нет.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027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Интеграция в сетевую систему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394123"/>
            <a:ext cx="756028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10333" y="1545332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Сбор пакетов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110333" y="1854101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Агрегация в потоки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301379"/>
            <a:ext cx="756028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10333" y="2452588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Расчёт признаков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110333" y="2761357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 же формулы, что при обучении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3208635"/>
            <a:ext cx="756028" cy="9072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10333" y="3359845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Модель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110333" y="3668613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Классификация потока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360" y="4115891"/>
            <a:ext cx="756028" cy="9072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10333" y="4267101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SIEM / Мониторинг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6110333" y="4575870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Реагирование на результат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233360" y="5159177"/>
            <a:ext cx="6296860" cy="958453"/>
          </a:xfrm>
          <a:prstGeom prst="roundRect">
            <a:avLst>
              <a:gd name="adj" fmla="val 6626"/>
            </a:avLst>
          </a:prstGeom>
          <a:solidFill>
            <a:srgbClr val="FCF2B5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4566" y="5331619"/>
            <a:ext cx="189007" cy="1512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24779" y="5317927"/>
            <a:ext cx="5654236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Признаки должны рассчитываться одинаково на стадии обучения и в промышленной системе — иначе модель получит данные другого распределения.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283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Полный цикл как инженерный процесс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97" y="2714923"/>
            <a:ext cx="5548372" cy="20820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37988" y="4291503"/>
            <a:ext cx="836840" cy="16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Разбиение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783340" y="4291503"/>
            <a:ext cx="836840" cy="16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Фичи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34424" y="4291503"/>
            <a:ext cx="836840" cy="16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Разметка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685507" y="4291503"/>
            <a:ext cx="836840" cy="16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Сбор данных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13664" y="4291503"/>
            <a:ext cx="836840" cy="16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Постановка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72226" y="2027634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Модель — только один компонент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72226" y="2384822"/>
            <a:ext cx="3564245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Большая часть работы связана с подготовкой инфраструктуры: корректным датасетом, качественной разметкой и стабильным механизмом формирования признаков.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72226" y="3376513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Системный взгляд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972226" y="3733701"/>
            <a:ext cx="35642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правильно выстроенного конвейера даже хороший алгоритм не даст надёжного результата в реальной среде.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72226" y="4522788"/>
            <a:ext cx="3564245" cy="946348"/>
          </a:xfrm>
          <a:prstGeom prst="roundRect">
            <a:avLst>
              <a:gd name="adj" fmla="val 6711"/>
            </a:avLst>
          </a:prstGeom>
          <a:solidFill>
            <a:srgbClr val="DFF6D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431" y="4707930"/>
            <a:ext cx="189007" cy="15120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63644" y="4669433"/>
            <a:ext cx="292162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Построение классификатора — это инженерная дисциплина, а не разовый эксперимент.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Широкоэкранный</PresentationFormat>
  <Paragraphs>78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2026-10-06T21:10:28Z</dcterms:created>
  <dcterms:modified xsi:type="dcterms:W3CDTF">2026-10-06T21:10:53Z</dcterms:modified>
</cp:coreProperties>
</file>