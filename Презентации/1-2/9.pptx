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72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45828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Где проходит граница между машинным и глубоким обучением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3256756"/>
            <a:ext cx="6296860" cy="20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Главное различие не в названии алгоритма, а в том,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кто строит представление данных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 классическом машинном обучении человек заранее определяет признаки объекта. В глубоком обучении многоуровневая сеть берёт эту функцию на себя — формируя переходы яркости, числовые представления слов, сложные структуры в последовательностях.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просто более мощное машинное обучение. Изменяется сам подход: человек проектирует признаковое пространство в классике, а сеть делает это самостоятельно в глубоком обучении.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300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объект становится числами для алгоритма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446437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607469"/>
            <a:ext cx="6911306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Алгоритм не понимает смысл файла, соединения или пользователя — он видит только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числовой вектор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Качество этого вектора напрямую влияет на способность модели находить закономерности.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Возьмём сетевое соединение: длительность, объём данных, количество пакетов, направление трафика. После преобразования в числа алгоритм работает только с этим вектором.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625165" y="4633416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47" y="4901307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8556" y="4831755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важная закономерность не отражена в выбранных признаках, алгоритм её просто не найдёт — независимо от качества обучения.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364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глубокие сети учатся представлять данные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2970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Representation learning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способность модели самостоятельно формировать внутреннее представление исходного объекта. Каждый слой преобразует данные так, чтобы следующие уровни выделили более полезные зависимости.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612852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38082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Изображения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4216896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нужно вручную задавать тысячи признаков — сеть постепенно формирует собственное представление через промежуточные слои.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612852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38082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Текст и звук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4216896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Аналогичный принцип работает с речью, текстом и временными последовательностями любой природы.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612852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38082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Компромисс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4216896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находит представления, которые человеку трудно сформулировать, но внутренняя логика становится менее прозрачной.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63154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Структурированные данные против неструктурированных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2510433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Классические методы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2867620"/>
            <a:ext cx="2963987" cy="152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хорошо работают со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структурированными данными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таблицами, где каждая строка это объект, а столбцы содержат измеримые характеристики. Это естественная среда для большинства классических моделей.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72583" y="2510433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Глубокое обучение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72583" y="2867620"/>
            <a:ext cx="2963987" cy="174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Сильно проявляет себя на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сложных данных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изображения с миллионами взаимосвязанных пикселей, текст как последовательность зависимых элементов, звук как временной сигнал. Вручную построить полный набор признаков для таких данных крайне сложно.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4853980"/>
            <a:ext cx="6296860" cy="740767"/>
          </a:xfrm>
          <a:prstGeom prst="roundRect">
            <a:avLst>
              <a:gd name="adj" fmla="val 8574"/>
            </a:avLst>
          </a:prstGeom>
          <a:solidFill>
            <a:srgbClr val="D5F6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566" y="5026422"/>
            <a:ext cx="189007" cy="1512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24779" y="5012730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небольшой хорошей таблицы классическая модель может быть точнее, быстрее и проще, чем глубокая сеть.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9705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объём данных критичен для глубокого обучения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410856" y="2829421"/>
            <a:ext cx="1859908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↑</a:t>
            </a:r>
            <a:endParaRPr lang="en-US" sz="2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768" y="1884363"/>
            <a:ext cx="2268183" cy="2268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311352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Глубокие модели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620121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Большое число параметров требует разнообразных примеров для надёжной настройки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20832" y="2829421"/>
            <a:ext cx="1859908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↓</a:t>
            </a:r>
            <a:endParaRPr lang="en-US" sz="2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744" y="1884363"/>
            <a:ext cx="2268183" cy="2268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1450" y="4311352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Классические модели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171450" y="4620121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Эффективно работают с существенно меньшими наборами при хорошем понимании предметной области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1475" y="5191522"/>
            <a:ext cx="10868745" cy="1006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Глубокие модели чувствительны к количеству данных. Если данных мало, высокая сложность модели становится недостатком и повышает риск подстройки под случайные особенности.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оценивать данные не только по количеству строк: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большой массив повторяющихся примеров даёт меньше пользы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чем разнообразный набор, хорошо покрывающий реальные состояния системы.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97049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Вычислительная стоимость выбора модели</a:t>
            </a:r>
            <a:endParaRPr lang="en-US" sz="2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042517"/>
            <a:ext cx="6296860" cy="1201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0289" y="2203252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Классическое МО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70289" y="2488406"/>
            <a:ext cx="589920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 значительно меньше вычислительной инфраструктуры. Многие модели обучаются на обычном процессоре — удобно для быстрых экспериментов и систем с ограниченными ресурсами.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350716"/>
            <a:ext cx="6296860" cy="12019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70289" y="3511451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Глубокое обучение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470289" y="3796605"/>
            <a:ext cx="589920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 огромного количества матричных операций, поэтому используются графические и специализированные ускорители. Важны мощность оборудования, объём памяти и скорость передачи данных.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658916"/>
            <a:ext cx="6296860" cy="12019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70289" y="4819650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Экономический компромисс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470289" y="5104805"/>
            <a:ext cx="589920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Иногда небольшое повышение качества требует многократного роста вычислительной стоимости — что может быть неоправданным в промышленной системе.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543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предобучение изменило экономику ИИ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219127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164358"/>
            <a:ext cx="6919442" cy="194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Вместо построения модели с нуля под каждую задачу, можно сначала обучить большую модель на огромном массиве общих данных, а затем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адаптировать её к конкретной области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принцип предобучения и переноса знаний.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Организации больше не обязаны собирать гигантский набор данных для каждой задачи. Одна фундаментальная модель адаптируется к различным профессиональным областям через донастройку на существенно меньшем специализированном наборе.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617029" y="4284266"/>
            <a:ext cx="6919442" cy="1136055"/>
          </a:xfrm>
          <a:prstGeom prst="roundRect">
            <a:avLst>
              <a:gd name="adj" fmla="val 6289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86" y="4521498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9763" y="4464447"/>
            <a:ext cx="619665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Перенос не гарантирует идеальный результат — если исходные данные сильно отличаются от целевой области, потребуется дополнительная адаптация.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9393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меняющиеся данные влияют на стабильность модели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458" y="1976537"/>
            <a:ext cx="6838779" cy="3077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2813" y="2047021"/>
            <a:ext cx="1196763" cy="1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Обучение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82813" y="2284571"/>
            <a:ext cx="1196763" cy="41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Тренировка на исторических данных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95205" y="4423551"/>
            <a:ext cx="1203339" cy="184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Внедрение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95205" y="4661102"/>
            <a:ext cx="1203339" cy="27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модели в реальной среде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61569" y="1931534"/>
            <a:ext cx="1196763" cy="3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Дрейф данных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61569" y="2354028"/>
            <a:ext cx="1196763" cy="41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Смещение распределения и падение качества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5207595"/>
            <a:ext cx="10868745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Любая обученная модель зависит от распределения данных, с которыми она работает. Классическая модель теряет качество при изменении ключевых признаков; глубокая сталкивается с той же фундаментальной проблемой, хотя сложность внутренних представлений может временно скрывать ухудшение. В информационной безопасности проблема особенно выражена: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противник способен намеренно изменять своё поведение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поэтому модель нельзя считать однажды созданным и завершённым компонентом.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894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глубокие модели сложнее объяснять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1272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Классическое МО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97014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Компактные наборы признаков и модели, внутреннюю логику которых можно анализировать непосредственно или с помощью простых методов. Решение прозрачно и поддаётся аудиту.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423716"/>
            <a:ext cx="5476043" cy="2657872"/>
          </a:xfrm>
          <a:prstGeom prst="roundRect">
            <a:avLst>
              <a:gd name="adj" fmla="val 5120"/>
            </a:avLst>
          </a:prstGeom>
          <a:solidFill>
            <a:srgbClr val="27B29F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61272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Глубокое обучение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3097014"/>
            <a:ext cx="509802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Решение может зависеть от взаимодействия огромного количества параметров и промежуточных представлений. Даже при высокой точности специалисту бывает трудно объяснить, какое сочетание внутренних факторов привело к результату.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29421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создаёт инженерный компромисс: более сложная модель улучшает качество, но усложняет аудит и объяснение решений.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 областях с высокой ответственностью это нельзя игнорировать.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3707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выбрать правильный инструмент для задачи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2707184"/>
            <a:ext cx="10868745" cy="1874838"/>
          </a:xfrm>
          <a:prstGeom prst="roundRect">
            <a:avLst>
              <a:gd name="adj" fmla="val 402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713534"/>
            <a:ext cx="5428023" cy="1862138"/>
          </a:xfrm>
          <a:custGeom>
            <a:avLst/>
            <a:gdLst/>
            <a:ahLst/>
            <a:cxnLst/>
            <a:rect l="l" t="t" r="r" b="b"/>
            <a:pathLst>
              <a:path w="5428023" h="1862138">
                <a:moveTo>
                  <a:pt x="62849" y="0"/>
                </a:moveTo>
                <a:lnTo>
                  <a:pt x="5428023" y="0"/>
                </a:lnTo>
                <a:lnTo>
                  <a:pt x="5428023" y="1862138"/>
                </a:lnTo>
                <a:lnTo>
                  <a:pt x="62849" y="1862138"/>
                </a:lnTo>
                <a:arcTo wR="62849" hR="62850" stAng="5400000" swAng="5400000"/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5" name="Text 3"/>
          <p:cNvSpPr/>
          <p:nvPr/>
        </p:nvSpPr>
        <p:spPr>
          <a:xfrm>
            <a:off x="847307" y="2893020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Классическое МО — когда выбрать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7307" y="3275806"/>
            <a:ext cx="5069058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Структурированные данные, ограниченный объём выборки, понятные специалистам признаки, высокие требования к интерпретируемости. Проще в обучении, быстрее работает, требует меньше ресурсов.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2713534"/>
            <a:ext cx="5428023" cy="1862138"/>
          </a:xfrm>
          <a:custGeom>
            <a:avLst/>
            <a:gdLst/>
            <a:ahLst/>
            <a:cxnLst/>
            <a:rect l="l" t="t" r="r" b="b"/>
            <a:pathLst>
              <a:path w="5428023" h="1862138">
                <a:moveTo>
                  <a:pt x="0" y="0"/>
                </a:moveTo>
                <a:lnTo>
                  <a:pt x="5365174" y="0"/>
                </a:lnTo>
                <a:arcTo wR="62849" hR="62850" stAng="16200000" swAng="5400000"/>
                <a:lnTo>
                  <a:pt x="5428023" y="1799287"/>
                </a:lnTo>
                <a:arcTo wR="62849" hR="62850" stAng="0" swAng="5400000"/>
                <a:lnTo>
                  <a:pt x="0" y="1862138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713534"/>
            <a:ext cx="25399" cy="1862138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9" name="Text 7"/>
          <p:cNvSpPr/>
          <p:nvPr/>
        </p:nvSpPr>
        <p:spPr>
          <a:xfrm>
            <a:off x="6275330" y="2893020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Глубокое обучение — когда выбрать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75330" y="3275806"/>
            <a:ext cx="5069058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Сложные исходные данные: изображения, текст, речь, видео, большие последовательности. Способность сети самостоятельно строить внутренние представления даёт существенное преимущество.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475" y="4773910"/>
            <a:ext cx="1086874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Машинное и глубокое обучение — это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инструменты с разными свойствами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старая и новая технология. Правильный выбор определяется структурой данных, объёмом выборки, доступными вычислениями, требованиями к скорости и необходимостью объяснять результат.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Широкоэкранный</PresentationFormat>
  <Paragraphs>71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Open Sans Bold</vt:lpstr>
      <vt:lpstr>Arial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2026-10-05T22:09:22Z</dcterms:created>
  <dcterms:modified xsi:type="dcterms:W3CDTF">2026-10-05T22:10:01Z</dcterms:modified>
</cp:coreProperties>
</file>