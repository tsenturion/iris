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77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476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Интеллект как способность решать новые задачи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Интеллект проявляется не в объёме знаний, а в умении ориентироваться в незнакомой ситуации. Чем больше неопределённости — тем заметнее его роль.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09340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Когнитивные функции как механизмы интеллекта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954808"/>
            <a:ext cx="629686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Когнитивные функции — это психические процессы получения, преобразования, сохранения и использования информации. Они работают не как независимые блоки, а как </a:t>
            </a: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взаимосвязанная система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изменение одной функции меняет результат всей интеллектуальной деятельности.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33360" y="2868116"/>
            <a:ext cx="6296860" cy="3080544"/>
          </a:xfrm>
          <a:prstGeom prst="roundRect">
            <a:avLst>
              <a:gd name="adj" fmla="val 193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2874466"/>
            <a:ext cx="6284160" cy="766961"/>
          </a:xfrm>
          <a:custGeom>
            <a:avLst/>
            <a:gdLst/>
            <a:ahLst/>
            <a:cxnLst/>
            <a:rect l="l" t="t" r="r" b="b"/>
            <a:pathLst>
              <a:path w="6284160" h="766961">
                <a:moveTo>
                  <a:pt x="49617" y="0"/>
                </a:moveTo>
                <a:lnTo>
                  <a:pt x="6234543" y="0"/>
                </a:lnTo>
                <a:arcTo wR="49617" hR="49619" stAng="16200000" swAng="5400000"/>
                <a:lnTo>
                  <a:pt x="6284160" y="766961"/>
                </a:lnTo>
                <a:lnTo>
                  <a:pt x="0" y="766961"/>
                </a:lnTo>
                <a:lnTo>
                  <a:pt x="0" y="49619"/>
                </a:lnTo>
                <a:arcTo wR="49617" hR="49619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8" name="Text 5"/>
          <p:cNvSpPr/>
          <p:nvPr/>
        </p:nvSpPr>
        <p:spPr>
          <a:xfrm>
            <a:off x="5381391" y="3016151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Восприятие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381391" y="3301305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Формирование модели ситуации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39710" y="3641427"/>
            <a:ext cx="6284160" cy="766961"/>
          </a:xfrm>
          <a:prstGeom prst="rect">
            <a:avLst/>
          </a:prstGeom>
          <a:solidFill>
            <a:srgbClr val="DFF6D5"/>
          </a:solidFill>
          <a:ln/>
        </p:spPr>
      </p:sp>
      <p:sp>
        <p:nvSpPr>
          <p:cNvPr id="11" name="Shape 8"/>
          <p:cNvSpPr/>
          <p:nvPr/>
        </p:nvSpPr>
        <p:spPr>
          <a:xfrm>
            <a:off x="5239710" y="364142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2" name="Text 9"/>
          <p:cNvSpPr/>
          <p:nvPr/>
        </p:nvSpPr>
        <p:spPr>
          <a:xfrm>
            <a:off x="5381391" y="3783112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Внимание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381391" y="4068266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Отбор значимых сигналов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39710" y="4408388"/>
            <a:ext cx="6284160" cy="766961"/>
          </a:xfrm>
          <a:prstGeom prst="rect">
            <a:avLst/>
          </a:prstGeom>
          <a:solidFill>
            <a:srgbClr val="DFF6D5"/>
          </a:solidFill>
          <a:ln/>
        </p:spPr>
      </p:sp>
      <p:sp>
        <p:nvSpPr>
          <p:cNvPr id="15" name="Shape 12"/>
          <p:cNvSpPr/>
          <p:nvPr/>
        </p:nvSpPr>
        <p:spPr>
          <a:xfrm>
            <a:off x="5239710" y="4408388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6" name="Text 13"/>
          <p:cNvSpPr/>
          <p:nvPr/>
        </p:nvSpPr>
        <p:spPr>
          <a:xfrm>
            <a:off x="5381391" y="4550073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Память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381391" y="4835227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Сохранение и извлечение опыта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239710" y="5175349"/>
            <a:ext cx="6284160" cy="766961"/>
          </a:xfrm>
          <a:custGeom>
            <a:avLst/>
            <a:gdLst/>
            <a:ahLst/>
            <a:cxnLst/>
            <a:rect l="l" t="t" r="r" b="b"/>
            <a:pathLst>
              <a:path w="6284160" h="766961">
                <a:moveTo>
                  <a:pt x="0" y="0"/>
                </a:moveTo>
                <a:lnTo>
                  <a:pt x="6284160" y="0"/>
                </a:lnTo>
                <a:lnTo>
                  <a:pt x="6284160" y="717342"/>
                </a:lnTo>
                <a:arcTo wR="49617" hR="49619" stAng="0" swAng="5400000"/>
                <a:lnTo>
                  <a:pt x="49617" y="766961"/>
                </a:lnTo>
                <a:arcTo wR="49617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9" name="Shape 16"/>
          <p:cNvSpPr/>
          <p:nvPr/>
        </p:nvSpPr>
        <p:spPr>
          <a:xfrm>
            <a:off x="5239710" y="5175349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20" name="Text 17"/>
          <p:cNvSpPr/>
          <p:nvPr/>
        </p:nvSpPr>
        <p:spPr>
          <a:xfrm>
            <a:off x="5381391" y="5317034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Мышление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381391" y="5602188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Преобразование проблемы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626890"/>
            <a:ext cx="2186826" cy="287139"/>
          </a:xfrm>
          <a:prstGeom prst="roundRect">
            <a:avLst>
              <a:gd name="adj" fmla="val 22118"/>
            </a:avLst>
          </a:prstGeom>
          <a:solidFill>
            <a:srgbClr val="DFF6D5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683544"/>
            <a:ext cx="256960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КОГНИТИВНАЯ ФУНКЦИЯ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989634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Восприятие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2769295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Восприятие преобразует сенсорные сигналы в целостную модель происходящего. Когнитивная система выделяет значимые характеристики и формирует представление, удобное для дальнейшей обработки.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3889177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FF6D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169569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4106466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и тот же объект воспринимается по-разному в зависимости от контекста. Ошибка на этом этапе ведёт к ошибочным выводам на всех последующих.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820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Внимание и отбор значимой информации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2593479"/>
            <a:ext cx="5886799" cy="25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Внимание концентрирует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ограниченные когнитивные ресурсы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на сигналах, наиболее значимых для текущей задачи. Оно тесно связано с целью деятельности и определяет, что становится приоритетным.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 длительной интеллектуальной нагрузке качество внимания снижается — возрастает риск пропустить важный признак. Эффективность решения задачи зависит не только от наличия информации, но и от способности правильно её распределять.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439" y="1592957"/>
            <a:ext cx="4528032" cy="4528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465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Память в структуре интеллектуальной деятельности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4398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 памяти каждую ситуацию пришлось бы анализировать как совершенно новую. Она связывает прошлый опыт с текущей задачей.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61445"/>
            <a:ext cx="5339820" cy="23117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5881" y="4242891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Рабочая память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4651573"/>
            <a:ext cx="491100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Удерживает информацию, необходимую прямо сейчас. Её объём ограничен — перегрузка снижает качество анализа.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3461445"/>
            <a:ext cx="5339919" cy="23117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4708" y="4242891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Долговременная память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404708" y="4651573"/>
            <a:ext cx="491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Сохраняет опыт на длительных интервалах. Позволяет узнавать знакомые закономерности и быстрее выбирать направление анализа.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5644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Мышление как преобразование проблемы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083891"/>
            <a:ext cx="629686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Мышление становится значимым именно тогда, когда готового решения нет. Это процесс установления отношений между элементами задачи, выдвижения гипотез и их проверки — результат не содержится во входной информации напрямую.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946" y="3396159"/>
            <a:ext cx="4643817" cy="27561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20116" y="5513041"/>
            <a:ext cx="1154351" cy="222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Проверка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265318" y="5513041"/>
            <a:ext cx="1154351" cy="222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Гипотезы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786800" y="5513041"/>
            <a:ext cx="1154351" cy="222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91469"/>
            <a:ext cx="2186826" cy="287139"/>
          </a:xfrm>
          <a:prstGeom prst="roundRect">
            <a:avLst>
              <a:gd name="adj" fmla="val 22118"/>
            </a:avLst>
          </a:prstGeom>
          <a:solidFill>
            <a:srgbClr val="DFF6D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648123"/>
            <a:ext cx="256960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КОГНИТИВНАЯ ФУНКЦИЯ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54213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Речь и понятийное мышление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324523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Язык позволяет фиксировать понятия, обозначать отношения между объектами и оперировать абстрактными категориями. Благодаря этому человек рассуждает о явлениях, которых нет перед ним прямо сейчас.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Профессиональная терминология — это не просто названия: она связывает конкретную ситуацию с более общей моделью.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Язык — не только способ выразить мысль, но и инструмент, посредством которого она строится.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604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Исполнительные функции и управление поведением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09080"/>
            <a:ext cx="448854" cy="4488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71167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Удержание цели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1475" y="3053953"/>
            <a:ext cx="53277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Сохранение направления деятельности на протяжении всего решения задачи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2406" y="2009080"/>
            <a:ext cx="448854" cy="448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2406" y="2671167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Планирование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02406" y="3053953"/>
            <a:ext cx="532781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Выстраивание последовательности действий до начала их выполнения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55256"/>
            <a:ext cx="448854" cy="4488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617343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Гибкость стратегии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61475" y="5000129"/>
            <a:ext cx="53277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Способность изменить подход, когда первоначальный способ перестаёт работать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2406" y="3955256"/>
            <a:ext cx="448854" cy="4488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2406" y="4617343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Контроль процесса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202406" y="5000129"/>
            <a:ext cx="532781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Отслеживание соответствия между действиями и поставленной целью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61475" y="5752207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Интеллект проявляется в способности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заметить несоответствие и перестроить анализ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в упорном продолжении выбранного действия.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674118"/>
            <a:ext cx="1693522" cy="287139"/>
          </a:xfrm>
          <a:prstGeom prst="roundRect">
            <a:avLst>
              <a:gd name="adj" fmla="val 22118"/>
            </a:avLst>
          </a:prstGeom>
          <a:solidFill>
            <a:srgbClr val="DFF6D5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730772"/>
            <a:ext cx="207629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ВЫСШИЙ УРОВЕНЬ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036862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Метакогниция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2816523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Метакогниция — это способность контролировать собственные познавательные процессы. Человек не только решает задачу, но и оценивает, насколько хорошо он её понимает.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16662" y="4106466"/>
            <a:ext cx="66198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Развитый интеллект — это не только скорость получения ответа, но и умение оценивать границы собственной уверенности и обнаруживать необходимость дополнительной проверки.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3201" y="3936405"/>
            <a:ext cx="25399" cy="1247378"/>
          </a:xfrm>
          <a:prstGeom prst="roundRect">
            <a:avLst>
              <a:gd name="adj" fmla="val 50001"/>
            </a:avLst>
          </a:prstGeom>
          <a:solidFill>
            <a:srgbClr val="7DDB5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42876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Когнитивные функции и биокомпьютинг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151757"/>
            <a:ext cx="6296860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FinalSpark Neuroplatform использует трёхмерные структуры живых нейронов, выращенных из человеческих клеток, как элементы экспериментальной вычислительной системы. Это наглядно демонстрирует принципиальное различие между нейронной активностью и полноценным интеллектом.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3256260"/>
            <a:ext cx="3080169" cy="1380034"/>
          </a:xfrm>
          <a:prstGeom prst="roundRect">
            <a:avLst>
              <a:gd name="adj" fmla="val 489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8456" y="3423245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Нейронная активность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8456" y="3756124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Электрические сигналы в живых клетках — необходимое, но недостаточное условие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878165" y="3256260"/>
            <a:ext cx="3080169" cy="1380034"/>
          </a:xfrm>
          <a:prstGeom prst="roundRect">
            <a:avLst>
              <a:gd name="adj" fmla="val 489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45146" y="3423245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Когнитивная система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045146" y="3756124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Восприятие, речь, мышление, память — организованные в целостную структуру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1475" y="4772819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8456" y="4939804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Естественный интеллект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28456" y="5272683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Возникает из сложного взаимодействия всех когнитивных процессов одновременно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Microsoft Office PowerPoint</Application>
  <PresentationFormat>Широкоэкранный</PresentationFormat>
  <Paragraphs>66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Nunito Sans</vt:lpstr>
      <vt:lpstr>Nunito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2026-10-04T21:01:52Z</dcterms:created>
  <dcterms:modified xsi:type="dcterms:W3CDTF">2026-10-04T21:13:40Z</dcterms:modified>
</cp:coreProperties>
</file>