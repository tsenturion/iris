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</p:embeddedFont>
    <p:embeddedFont>
      <p:font typeface="Nunito Sans Bold" charset="-52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4566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955565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Поиск нарушений без предварительной разметки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Когда новые сценарии атак появляются в системе впервые, обучение с учителем становится неэффективным. Требуется метод, который работает со структурой поведения напрямую — без готовых ответов.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50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мы группируем в веб-среде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024882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Перед анализом нужно определить объект кластеризации: пользователя, сессию, транзакцию или последовательность действий.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Один и тот же набор данных можно преобразовать по-разному и получить совершенно разные результаты. </a:t>
            </a:r>
            <a:r>
              <a:rPr lang="en-US" sz="1450" dirty="0">
                <a:solidFill>
                  <a:srgbClr val="409F4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Правильная постановка задачи — это уже половина успеха.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76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Как измерить сходство между сессиями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964954"/>
            <a:ext cx="5226911" cy="168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105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Сходство зависит от выбранных признаков: длительность, частота запросов, структура переходов.</a:t>
            </a:r>
            <a:endParaRPr lang="en-US" sz="13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один признак измеряется тысячами, а другой — единицами, первый начнёт доминировать. </a:t>
            </a:r>
            <a:r>
              <a:rPr lang="en-US" sz="1300" dirty="0">
                <a:solidFill>
                  <a:srgbClr val="000000"/>
                </a:solidFill>
                <a:highlight>
                  <a:srgbClr val="7DDB51"/>
                </a:highlight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Правильное масштабирование данных критично для получения осмысленных групп.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994" y="1457424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54559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Нормальное поведение имеет несколько форм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511425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28717" y="2706787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Короткие визиты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8717" y="3115469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Пользователь заходит ненадолго и выполняет одну операцию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476244" y="2511425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71601" y="2706787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Длительная работа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671601" y="3115469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Пользователь работает часами, совершая множество переходов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33360" y="4407098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28717" y="4602460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Отличие ≠ нарушение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5428717" y="5011142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Кластеризация выявляет естественные группы без предварительных классов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401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Малые группы как сигнал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5196" y="2348210"/>
            <a:ext cx="3515728" cy="30355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07254" y="4562398"/>
            <a:ext cx="1280885" cy="49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Требуется анализ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2666669" y="4562398"/>
            <a:ext cx="1280885" cy="49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Обнаружен кластер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032251" y="2160290"/>
            <a:ext cx="350421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Небольшие кластеры, отличающиеся от основных, требуют внимания. Они могут содержать редкие виды активности, автоматизированные сценарии или новые формы злоупотреблений.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032251" y="4187428"/>
            <a:ext cx="3504219" cy="1341834"/>
          </a:xfrm>
          <a:prstGeom prst="roundRect">
            <a:avLst>
              <a:gd name="adj" fmla="val 5916"/>
            </a:avLst>
          </a:prstGeom>
          <a:solidFill>
            <a:srgbClr val="DFF6D5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258" y="4467820"/>
            <a:ext cx="236234" cy="1890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6499" y="4404717"/>
            <a:ext cx="27009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Маленький размер кластера — это повод для анализа, но не доказательство угрозы.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7467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Аномалии и инциденты — разные понятия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331541"/>
            <a:ext cx="945035" cy="113407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95517" y="2520553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Аномалия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1795517" y="2929235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Статистическое отклонение от типичного поведения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465612"/>
            <a:ext cx="945035" cy="13915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95517" y="3654623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Проверка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1795517" y="4063305"/>
            <a:ext cx="516281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Экспертный анализ контекста и дополнительных признаков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4857155"/>
            <a:ext cx="945035" cy="113407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95517" y="5046166"/>
            <a:ext cx="516281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Инцидент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1795517" y="5454848"/>
            <a:ext cx="516281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Подтверждённое нарушение, требующее реагирования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50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Структура внутри известных нарушений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3024882"/>
            <a:ext cx="6903269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Даже если тип атаки уже известен, кластеризация показывает его внутреннее разнообразие. Мошеннические сессии могут разделиться на несколько групп с разными поведенческими моделями.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09F42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Одновременно могут появиться совершенно новые группы</a:t>
            </a: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, ранее не встречавшиеся в расследованиях.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00146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Интерпретация — работа специалиста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086173"/>
            <a:ext cx="6296860" cy="99427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8665" y="2275284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Кластер A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498665" y="2632770"/>
            <a:ext cx="58424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Короткие сессии с однотипными запросами — признак автоматизации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233539"/>
            <a:ext cx="6296860" cy="99427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98665" y="3422650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Кластер B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5498665" y="3780135"/>
            <a:ext cx="58424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Редкие дорогостоящие операции — требует проверки привилегий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380905"/>
            <a:ext cx="6296860" cy="99427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98665" y="4570016"/>
            <a:ext cx="584244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Кластер C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5498665" y="4927501"/>
            <a:ext cx="5842449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Высокая частота ошибок — возможный перебор или сбой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5233360" y="5547420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Алгоритм находит математическую структуру, но смысл групп объясняет человек. Кластеризация хорошо работает вместе с предметной экспертизой.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843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Кластеры меняются со временем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024882"/>
            <a:ext cx="6110135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Веб-среда постоянно эволюционирует: появляются новые функции, меняются привычки пользователей. Группа, которая раньше была необычной, может стать нормальной.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highlight>
                  <a:srgbClr val="7DDB51"/>
                </a:highlight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Появление нового кластера и его рост могут сигнализировать о новом типе автоматизированного злоупотребления.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117" y="1717278"/>
            <a:ext cx="4297354" cy="42974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141684"/>
            <a:ext cx="4382978" cy="65746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97893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Кластеризация в системе защиты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54759"/>
            <a:ext cx="6296860" cy="2795786"/>
          </a:xfrm>
          <a:prstGeom prst="roundRect">
            <a:avLst>
              <a:gd name="adj" fmla="val 2840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2361109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66156" y="0"/>
                </a:moveTo>
                <a:lnTo>
                  <a:pt x="3142080" y="0"/>
                </a:lnTo>
                <a:lnTo>
                  <a:pt x="3142080" y="1693962"/>
                </a:lnTo>
                <a:lnTo>
                  <a:pt x="0" y="1693962"/>
                </a:lnTo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7" name="Text 4"/>
          <p:cNvSpPr/>
          <p:nvPr/>
        </p:nvSpPr>
        <p:spPr>
          <a:xfrm>
            <a:off x="5428717" y="2550120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Классификатор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8717" y="2958802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Распознаёт известные нарушения по обученным шаблонам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2361109"/>
            <a:ext cx="3142080" cy="1693962"/>
          </a:xfrm>
          <a:custGeom>
            <a:avLst/>
            <a:gdLst/>
            <a:ahLst/>
            <a:cxnLst/>
            <a:rect l="l" t="t" r="r" b="b"/>
            <a:pathLst>
              <a:path w="3142080" h="1693962">
                <a:moveTo>
                  <a:pt x="0" y="0"/>
                </a:moveTo>
                <a:lnTo>
                  <a:pt x="3075924" y="0"/>
                </a:lnTo>
                <a:arcTo wR="66156" hR="66158" stAng="16200000" swAng="5400000"/>
                <a:lnTo>
                  <a:pt x="3142080" y="1693962"/>
                </a:lnTo>
                <a:lnTo>
                  <a:pt x="0" y="1693962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2361109"/>
            <a:ext cx="25399" cy="1693962"/>
          </a:xfrm>
          <a:prstGeom prst="roundRect">
            <a:avLst>
              <a:gd name="adj" fmla="val 50001"/>
            </a:avLst>
          </a:prstGeom>
          <a:solidFill>
            <a:srgbClr val="C5DCBB"/>
          </a:solidFill>
          <a:ln/>
        </p:spPr>
      </p:sp>
      <p:sp>
        <p:nvSpPr>
          <p:cNvPr id="11" name="Text 8"/>
          <p:cNvSpPr/>
          <p:nvPr/>
        </p:nvSpPr>
        <p:spPr>
          <a:xfrm>
            <a:off x="8570797" y="2550120"/>
            <a:ext cx="276406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Кластеризация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70797" y="2958802"/>
            <a:ext cx="276406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Находит неизвестные сценарии без предварительной разметки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9710" y="4055070"/>
            <a:ext cx="6284160" cy="1089124"/>
          </a:xfrm>
          <a:custGeom>
            <a:avLst/>
            <a:gdLst/>
            <a:ahLst/>
            <a:cxnLst/>
            <a:rect l="l" t="t" r="r" b="b"/>
            <a:pathLst>
              <a:path w="6284160" h="1089124">
                <a:moveTo>
                  <a:pt x="0" y="0"/>
                </a:moveTo>
                <a:lnTo>
                  <a:pt x="6284160" y="0"/>
                </a:lnTo>
                <a:lnTo>
                  <a:pt x="6284160" y="1022966"/>
                </a:lnTo>
                <a:arcTo wR="66156" hR="66158" stAng="0" swAng="5400000"/>
                <a:lnTo>
                  <a:pt x="66156" y="1089124"/>
                </a:lnTo>
                <a:arcTo wR="66156" hR="66158" stAng="5400000" swAng="5400000"/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9710" y="4055070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5" name="Text 12"/>
          <p:cNvSpPr/>
          <p:nvPr/>
        </p:nvSpPr>
        <p:spPr>
          <a:xfrm>
            <a:off x="5428717" y="4244082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Обратная связь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28717" y="4652764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Подтверждённые случаи пополняют обучающие данные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5233360" y="536317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Кластеризация становится механизмом исследования неизвестного и превращает его в формализованное знание.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408</Words>
  <Application>Microsoft Office PowerPoint</Application>
  <PresentationFormat>Широкоэкранный</PresentationFormat>
  <Paragraphs>59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Nunito Sans</vt:lpstr>
      <vt:lpstr>Nunito Sans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2026-10-07T18:46:31Z</dcterms:created>
  <dcterms:modified xsi:type="dcterms:W3CDTF">2026-10-07T18:48:05Z</dcterms:modified>
</cp:coreProperties>
</file>