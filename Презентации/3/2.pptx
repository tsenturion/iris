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  <p:italic r:id="rId14"/>
    </p:embeddedFont>
    <p:embeddedFont>
      <p:font typeface="Nunito Sans Bold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176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54534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Классическая классификация трафика: основные принципы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563416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Классическая классификация определяет тип соединения по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заранее известным сетевым признакам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явно заданным правилам — без машинного обучения. Её главное преимущество: предсказуемость и прозрачность.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5789" y="3430191"/>
            <a:ext cx="3183850" cy="2073275"/>
          </a:xfrm>
          <a:prstGeom prst="roundRect">
            <a:avLst>
              <a:gd name="adj" fmla="val 5580"/>
            </a:avLst>
          </a:prstGeom>
          <a:solidFill>
            <a:srgbClr val="061B40"/>
          </a:solidFill>
          <a:ln/>
        </p:spPr>
      </p:sp>
      <p:sp>
        <p:nvSpPr>
          <p:cNvPr id="7" name="Text 4"/>
          <p:cNvSpPr/>
          <p:nvPr/>
        </p:nvSpPr>
        <p:spPr>
          <a:xfrm>
            <a:off x="706420" y="3566716"/>
            <a:ext cx="28625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делает её сильной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6420" y="3954264"/>
            <a:ext cx="286258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Администратор всегда может объяснить, почему соединение отнесено к определённой категории. Правила явны и проверяемы.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12207" y="3566716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Где она уязвима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012207" y="3954264"/>
            <a:ext cx="2952478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Эффективность зависит от стабильности сетевого поведения. Когда приложения скрывают или изменяют свои характеристики, классические методы теряют информацию.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22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Классификация по номерам портов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46" y="1552674"/>
            <a:ext cx="2571586" cy="25716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40076" y="2037755"/>
            <a:ext cx="759639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Исторически сетевые сервисы использовали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известные номера портов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веб-сервисы, почта, удалённое администрирование. Это позволяло быстро определить назначение соединения по одному полю заголовка.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940076" y="2985691"/>
            <a:ext cx="7596394" cy="618927"/>
          </a:xfrm>
          <a:prstGeom prst="roundRect">
            <a:avLst>
              <a:gd name="adj" fmla="val 11544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133" y="3216573"/>
            <a:ext cx="212620" cy="170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92810" y="3165872"/>
            <a:ext cx="748318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Порт — это косвенный идентификатор, а не доказательство.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468813"/>
            <a:ext cx="5357778" cy="17699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6779" y="4657923"/>
            <a:ext cx="49033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Преимущество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926779" y="5015409"/>
            <a:ext cx="490336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Простота и скорость анализа, минимальная нагрузка на оборудование.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2343" y="4468813"/>
            <a:ext cx="5357877" cy="17699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37648" y="4657923"/>
            <a:ext cx="490346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Проблема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437648" y="5015409"/>
            <a:ext cx="4903466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Номер порта не гарантирует реальное назначение. Приложения используют нестандартные порты, современный трафик переносится через универсальные веб-протоколы.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68214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сетевых и транспортных протоколов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2409329"/>
            <a:ext cx="2975496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Второй подход разделяет трафик по протоколам: </a:t>
            </a: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TCP, UDP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другие. Это позволяет быстро разделить обмен на крупные технические категории и применить разные политики обработки.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3497163"/>
            <a:ext cx="2975496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Сетевое управление и фильтрация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Проверка соответствия политикам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Разграничение потоков по типу транспорта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89188" y="2433241"/>
            <a:ext cx="2975496" cy="1219101"/>
          </a:xfrm>
          <a:prstGeom prst="roundRect">
            <a:avLst>
              <a:gd name="adj" fmla="val 4884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37219" y="2581275"/>
            <a:ext cx="26794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TCP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37219" y="2908995"/>
            <a:ext cx="267943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Огромное количество разных приложений используют один протокол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89188" y="3758605"/>
            <a:ext cx="2975496" cy="1020663"/>
          </a:xfrm>
          <a:prstGeom prst="roundRect">
            <a:avLst>
              <a:gd name="adj" fmla="val 5834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37219" y="3906639"/>
            <a:ext cx="26794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UDP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37219" y="4234359"/>
            <a:ext cx="267943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Применяется как простыми сервисами, так и современными технологиями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89188" y="4898827"/>
            <a:ext cx="297549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Такой способ подходит для </a:t>
            </a: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грубого разделения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но недостаточен для точной прикладной классификации.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858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Классификация по полям заголовков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70881"/>
            <a:ext cx="3622882" cy="7182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0957" y="2859683"/>
            <a:ext cx="326391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Адреса и направление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40957" y="3242469"/>
            <a:ext cx="326391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IP-адреса источника и назначения, направление обмена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970881"/>
            <a:ext cx="3622882" cy="7182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63839" y="2859683"/>
            <a:ext cx="326391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Параметры протокола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463839" y="3242469"/>
            <a:ext cx="326391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Управляющие флаги, параметры соединения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970881"/>
            <a:ext cx="3622882" cy="7182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86721" y="2859683"/>
            <a:ext cx="326391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Правило классификации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086721" y="3242469"/>
            <a:ext cx="326391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Комбинация полей формирует решение о допустимости соединения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61475" y="4327525"/>
            <a:ext cx="5215303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 этом принципе строятся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традиционные межсетевые экраны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Администратор определяет, какие соединения разрешены между сегментами сети, какие протоколы допустимы.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191889" y="4174034"/>
            <a:ext cx="5474059" cy="1615380"/>
          </a:xfrm>
          <a:prstGeom prst="roundRect">
            <a:avLst>
              <a:gd name="adj" fmla="val 8004"/>
            </a:avLst>
          </a:prstGeom>
          <a:solidFill>
            <a:srgbClr val="061B40"/>
          </a:solidFill>
          <a:ln/>
        </p:spPr>
      </p:sp>
      <p:sp>
        <p:nvSpPr>
          <p:cNvPr id="14" name="Text 9"/>
          <p:cNvSpPr/>
          <p:nvPr/>
        </p:nvSpPr>
        <p:spPr>
          <a:xfrm>
            <a:off x="6371371" y="4344591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Главное ограничение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6371371" y="4795639"/>
            <a:ext cx="511509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Заголовки описывают способ передачи, но не раскрывают назначение данных. Два соединения с одинаковыми заголовками могут относиться к разным приложениям.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68512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Сигнатурная классификация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975346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ищет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характерные последовательности данных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заранее описанные для определённого протокола или приложения. Сигнатура может быть началом сообщения, командой протокола или уникальной последовательностью байтов.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2842121"/>
            <a:ext cx="6296860" cy="2747367"/>
          </a:xfrm>
          <a:prstGeom prst="roundRect">
            <a:avLst>
              <a:gd name="adj" fmla="val 2456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2848471"/>
            <a:ext cx="3142080" cy="1605062"/>
          </a:xfrm>
          <a:custGeom>
            <a:avLst/>
            <a:gdLst/>
            <a:ahLst/>
            <a:cxnLst/>
            <a:rect l="l" t="t" r="r" b="b"/>
            <a:pathLst>
              <a:path w="3142080" h="1605062">
                <a:moveTo>
                  <a:pt x="56233" y="0"/>
                </a:moveTo>
                <a:lnTo>
                  <a:pt x="3142080" y="0"/>
                </a:lnTo>
                <a:lnTo>
                  <a:pt x="3142080" y="1605062"/>
                </a:lnTo>
                <a:lnTo>
                  <a:pt x="0" y="1605062"/>
                </a:lnTo>
                <a:lnTo>
                  <a:pt x="0" y="56234"/>
                </a:lnTo>
                <a:arcTo wR="56233" hR="56234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8" name="Text 5"/>
          <p:cNvSpPr/>
          <p:nvPr/>
        </p:nvSpPr>
        <p:spPr>
          <a:xfrm>
            <a:off x="828456" y="3009106"/>
            <a:ext cx="28208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Преимущество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8456" y="3341985"/>
            <a:ext cx="282081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Точная классификация даже при нестандартных портах, если структура протокола хорошо известна.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809905" y="2848471"/>
            <a:ext cx="3142080" cy="1605062"/>
          </a:xfrm>
          <a:custGeom>
            <a:avLst/>
            <a:gdLst/>
            <a:ahLst/>
            <a:cxnLst/>
            <a:rect l="l" t="t" r="r" b="b"/>
            <a:pathLst>
              <a:path w="3142080" h="1605062">
                <a:moveTo>
                  <a:pt x="0" y="0"/>
                </a:moveTo>
                <a:lnTo>
                  <a:pt x="3085847" y="0"/>
                </a:lnTo>
                <a:arcTo wR="56233" hR="56234" stAng="16200000" swAng="5400000"/>
                <a:lnTo>
                  <a:pt x="3142080" y="1605062"/>
                </a:lnTo>
                <a:lnTo>
                  <a:pt x="0" y="1605062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2848471"/>
            <a:ext cx="19050" cy="1605062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2" name="Text 9"/>
          <p:cNvSpPr/>
          <p:nvPr/>
        </p:nvSpPr>
        <p:spPr>
          <a:xfrm>
            <a:off x="3970536" y="3009106"/>
            <a:ext cx="28208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Недостаток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970536" y="3341985"/>
            <a:ext cx="282081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Жёсткая зависимость от заранее известных шаблонов. Изменение версии приложения делает старую сигнатуру бесполезной.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825" y="4453533"/>
            <a:ext cx="6284160" cy="1129605"/>
          </a:xfrm>
          <a:custGeom>
            <a:avLst/>
            <a:gdLst/>
            <a:ahLst/>
            <a:cxnLst/>
            <a:rect l="l" t="t" r="r" b="b"/>
            <a:pathLst>
              <a:path w="6284160" h="1129605">
                <a:moveTo>
                  <a:pt x="0" y="0"/>
                </a:moveTo>
                <a:lnTo>
                  <a:pt x="6284160" y="0"/>
                </a:lnTo>
                <a:lnTo>
                  <a:pt x="6284160" y="1073371"/>
                </a:lnTo>
                <a:arcTo wR="56233" hR="56234" stAng="0" swAng="5400000"/>
                <a:lnTo>
                  <a:pt x="56233" y="1129605"/>
                </a:lnTo>
                <a:arcTo wR="56233" hR="56234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453533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6" name="Text 13"/>
          <p:cNvSpPr/>
          <p:nvPr/>
        </p:nvSpPr>
        <p:spPr>
          <a:xfrm>
            <a:off x="828456" y="4614168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🚫</a:t>
            </a: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Слепое пятно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8456" y="4947047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Неизвестное приложение не может быть классифицировано без предварительного описания.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55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Deep Packet Inspection (DPI)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72" y="1386979"/>
            <a:ext cx="3591133" cy="35912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84655" y="2825948"/>
            <a:ext cx="625181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DPI расширяет анализ заголовков и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исследует содержимое пакетов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на более высоких уровнях. Система рассматривает структуру передаваемых данных, пытаясь определить реальный прикладной протокол или приложение.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266333"/>
            <a:ext cx="5368096" cy="1084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0205" y="5285383"/>
            <a:ext cx="515031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Возможности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60205" y="5618262"/>
            <a:ext cx="5150316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Обнаружить приложение, работающее через нетипичный порт или маскирующееся под другой тип соединения.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2124" y="5266333"/>
            <a:ext cx="5368096" cy="1084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79904" y="5285383"/>
            <a:ext cx="515031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Ограничения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379904" y="5618262"/>
            <a:ext cx="515031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Требует больше вычислительных ресурсов и восстановления данных из фрагментов потока. При шифровании большая часть информации становится недоступной.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43099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Stateful-анализ и состояние соединения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2188567"/>
            <a:ext cx="629686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рассматривает не каждый пакет отдельно, а </a:t>
            </a: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учитывает состояние соединения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Она запоминает информацию о ранее наблюдавшихся пакетах и проверяет соответствие ожидаемому состоянию протокольного взаимодействия.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392801" y="2903438"/>
            <a:ext cx="19050" cy="2022177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7" name="Shape 4"/>
          <p:cNvSpPr/>
          <p:nvPr/>
        </p:nvSpPr>
        <p:spPr>
          <a:xfrm>
            <a:off x="5533192" y="3053358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8" name="Shape 5"/>
          <p:cNvSpPr/>
          <p:nvPr/>
        </p:nvSpPr>
        <p:spPr>
          <a:xfrm>
            <a:off x="5233360" y="2903438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86491" y="292997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101602" y="2952155"/>
            <a:ext cx="5428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Установление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01602" y="3237309"/>
            <a:ext cx="542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SYN → SYN-ACK → ACK: трёхстороннее рукопожатие TCP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3192" y="3798292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3" name="Shape 10"/>
          <p:cNvSpPr/>
          <p:nvPr/>
        </p:nvSpPr>
        <p:spPr>
          <a:xfrm>
            <a:off x="5233360" y="3648373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86491" y="3674914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101602" y="3697089"/>
            <a:ext cx="5428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Передача данных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01602" y="3982244"/>
            <a:ext cx="542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Контекст позволяет правильно интерпретировать свойства каждого пакета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33192" y="4543227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8" name="Shape 15"/>
          <p:cNvSpPr/>
          <p:nvPr/>
        </p:nvSpPr>
        <p:spPr>
          <a:xfrm>
            <a:off x="5233360" y="4393307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86491" y="441984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101602" y="4442023"/>
            <a:ext cx="5428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Завершение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101602" y="4727178"/>
            <a:ext cx="542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FIN/RST: корректное закрытие соединения с учётом истории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233360" y="5045174"/>
            <a:ext cx="6296860" cy="669627"/>
          </a:xfrm>
          <a:prstGeom prst="roundRect">
            <a:avLst>
              <a:gd name="adj" fmla="val 8892"/>
            </a:avLst>
          </a:prstGeom>
          <a:solidFill>
            <a:srgbClr val="DFF6D5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041" y="5202535"/>
            <a:ext cx="177200" cy="1416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93922" y="5186859"/>
            <a:ext cx="56946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Результат: существенно повышает качество классификации, но остаётся основанным на заранее известных свойствах протокола.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682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Эвристическая классификация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783556"/>
            <a:ext cx="7811594" cy="223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однозначной сигнатуры или фиксированного порта недостаточно, используются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эвристические правила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заранее сформулированные предположения о свойствах определённого типа трафика.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Решение строится на сочетании нескольких косвенных признаков. Например, сервис обычно взаимодействует только с конкретным сегментом сети в определённом направлении. Похожий обмен с другим адресным диапазоном классифицируется как нетипичный.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234" y="1597819"/>
            <a:ext cx="2603236" cy="26033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4613077"/>
            <a:ext cx="3500747" cy="1709241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25399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2905" y="4824512"/>
            <a:ext cx="307788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Гибкость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72905" y="5225058"/>
            <a:ext cx="30778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Позволяет классифицировать трафик без точных сигнатур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5375" y="4613077"/>
            <a:ext cx="3500846" cy="1709241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25399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56805" y="4824512"/>
            <a:ext cx="3077986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Проблема масштабирования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56805" y="5515769"/>
            <a:ext cx="307798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Требует постоянного сопровождения экспертом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29374" y="4613077"/>
            <a:ext cx="3500747" cy="1709241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25399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40804" y="4824512"/>
            <a:ext cx="307788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Хрупкость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40804" y="5225058"/>
            <a:ext cx="307788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Правило может перестать работать после изменения приложений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33785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Шифрование, туннелирование и современные протоколы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2385516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Шифрование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3360" y="2713236"/>
            <a:ext cx="2975496" cy="138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Массовое распространение шифрования существенно снизило эффективность классических методов. Если содержимое соединения защищено криптографически, система больше не может искать внутри него команды протокола или текстовые сигнатуры.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33360" y="4208562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Туннелирование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3360" y="4536281"/>
            <a:ext cx="2975496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тип трафика передаётся внутри другого протокола. VPN-соединение — характерный пример: наблюдатель видит защищённый туннель, но отдельные приложения внутри </a:t>
            </a: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неразличимы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58981" y="2279253"/>
            <a:ext cx="3179683" cy="3344862"/>
          </a:xfrm>
          <a:prstGeom prst="roundRect">
            <a:avLst>
              <a:gd name="adj" fmla="val 3210"/>
            </a:avLst>
          </a:prstGeom>
          <a:solidFill>
            <a:srgbClr val="061B40"/>
          </a:solidFill>
          <a:ln/>
        </p:spPr>
      </p:sp>
      <p:sp>
        <p:nvSpPr>
          <p:cNvPr id="10" name="Text 7"/>
          <p:cNvSpPr/>
          <p:nvPr/>
        </p:nvSpPr>
        <p:spPr>
          <a:xfrm>
            <a:off x="8600661" y="2385516"/>
            <a:ext cx="28963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Современные протоколы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00661" y="2713236"/>
            <a:ext cx="2896321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QUIC, HTTPS и другие защищённые технологии делают сеть безопаснее, но одновременно усложняют традиционную классификацию.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00661" y="3661966"/>
            <a:ext cx="289632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600661" y="3835995"/>
            <a:ext cx="2896321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Методы, основанные на портах и открытом содержимом, </a:t>
            </a:r>
            <a:r>
              <a:rPr lang="en-US" sz="11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теряют универсальность</a:t>
            </a:r>
            <a:r>
              <a:rPr lang="en-US" sz="11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в современной зашифрованной среде.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622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Переход к машинному обучению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046784"/>
            <a:ext cx="5780637" cy="2114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Классические методы остаются полезными там, где существуют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стабильные и однозначные признаки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Простое правило быстрее, понятнее и легче контролируется.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Проблема появляется, когда однозначный признак исчезает. Современный трафик может использовать одинаковые порты, быть зашифрованным, проходить через туннели и динамически изменять поведение.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4352826"/>
            <a:ext cx="5780637" cy="1236960"/>
          </a:xfrm>
          <a:prstGeom prst="roundRect">
            <a:avLst>
              <a:gd name="adj" fmla="val 6097"/>
            </a:avLst>
          </a:prstGeom>
          <a:solidFill>
            <a:srgbClr val="DFF6D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4608016"/>
            <a:ext cx="224427" cy="179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4867" y="4551164"/>
            <a:ext cx="5017764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Машинное обучение не отменяет классическую классификацию — оно дополняет её там, где явные признаки перестают работать.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86601" y="2085181"/>
            <a:ext cx="2239609" cy="3063875"/>
          </a:xfrm>
          <a:prstGeom prst="roundRect">
            <a:avLst>
              <a:gd name="adj" fmla="val 336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72433" y="2271018"/>
            <a:ext cx="1867945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Классические методы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072433" y="3002558"/>
            <a:ext cx="1867945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Отвечают на вопрос: </a:t>
            </a:r>
            <a:r>
              <a:rPr lang="en-US" sz="140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можем ли мы определить тип по известным признакам?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296763" y="2085181"/>
            <a:ext cx="2239708" cy="3063875"/>
          </a:xfrm>
          <a:prstGeom prst="roundRect">
            <a:avLst>
              <a:gd name="adj" fmla="val 336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82595" y="2271018"/>
            <a:ext cx="1868044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Машинное обучение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482595" y="3002558"/>
            <a:ext cx="1868044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Становится полезным, когда решение требует анализа </a:t>
            </a:r>
            <a:r>
              <a:rPr lang="en-US" sz="140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сложной комбинации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наблюдаемых характеристик.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</Words>
  <Application>Microsoft Office PowerPoint</Application>
  <PresentationFormat>Широкоэкранный</PresentationFormat>
  <Paragraphs>94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Noto Color Emoji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2026-10-06T21:05:02Z</dcterms:created>
  <dcterms:modified xsi:type="dcterms:W3CDTF">2026-10-06T21:09:15Z</dcterms:modified>
</cp:coreProperties>
</file>