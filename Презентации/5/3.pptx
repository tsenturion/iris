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53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91229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Определение цели классификации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166585"/>
            <a:ext cx="629686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анализирует статические характеристики исполняемых файлов и относит каждый из них к одному из двух классов: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безопасный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или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вредоносный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Ключевое отличие от простого вердикта — модель возвращает числовую оценку уверенности.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3371056"/>
            <a:ext cx="3071835" cy="1493143"/>
          </a:xfrm>
          <a:prstGeom prst="roundRect">
            <a:avLst>
              <a:gd name="adj" fmla="val 478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7881" y="3547467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Структурный анализ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7881" y="3904952"/>
            <a:ext cx="27190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Параметры файла без его запуска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400" y="3371056"/>
            <a:ext cx="3071934" cy="1493143"/>
          </a:xfrm>
          <a:prstGeom prst="roundRect">
            <a:avLst>
              <a:gd name="adj" fmla="val 478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2807" y="3547467"/>
            <a:ext cx="27191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 закономерностей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062807" y="4170660"/>
            <a:ext cx="2719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Связь признаков с классом угрозы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5017294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7881" y="5193705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Вероятностная оценка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37881" y="5551190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Степень уверенности, а не бинарный ответ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68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Базовая модель как отправная точка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506637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711197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Прежде чем применять сложные алгоритмы, строится простая модель — логистическая регрессия или дерево решений. Это позволяет убедиться, что данные корректны и признаки действительно несут информацию о классе.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31978"/>
            <a:ext cx="3520788" cy="12528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6779" y="5221089"/>
            <a:ext cx="306637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данных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26779" y="5578574"/>
            <a:ext cx="306637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Быстрая оценка пригодности признаков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5354" y="5031978"/>
            <a:ext cx="3520888" cy="12528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00658" y="5221089"/>
            <a:ext cx="30664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Диагностика процесса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600658" y="5578574"/>
            <a:ext cx="306647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Выявление ошибок в процедуре обучения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9332" y="5031978"/>
            <a:ext cx="3520888" cy="12528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74637" y="5221089"/>
            <a:ext cx="30664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Точка отсчёта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274637" y="5578574"/>
            <a:ext cx="306647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Эталон для сравнения сложных моделей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19701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Ансамбли деревьев для нелинейных зависимостей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2130358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 и градиентный бустинг выявляют сложные комбинации признаков, недоступные линейным моделям. Они работают с числовыми характеристиками файла без необходимости его запускать.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916734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2580" y="2916734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Взаимодействие признаков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762580" y="3225502"/>
            <a:ext cx="57676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Обнаружение нелинейных комбинаций характеристик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685084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62580" y="3685084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Табличные данные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762580" y="3993852"/>
            <a:ext cx="57676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 без запуска исполняемых файлов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453434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62580" y="4453434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LightGBM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762580" y="4762202"/>
            <a:ext cx="576764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Оптимизированная реализация для больших наборов данных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233360" y="5115917"/>
            <a:ext cx="6296860" cy="740767"/>
          </a:xfrm>
          <a:prstGeom prst="roundRect">
            <a:avLst>
              <a:gd name="adj" fmla="val 8574"/>
            </a:avLst>
          </a:prstGeom>
          <a:solidFill>
            <a:srgbClr val="D5F6F1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4566" y="5288359"/>
            <a:ext cx="189007" cy="1512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724779" y="5277378"/>
            <a:ext cx="565423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Сложность модели сама по себе не гарантирует лучший результат — важна правильная настройка.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2616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Последовательное улучшение в градиентном бустинге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445688"/>
            <a:ext cx="3534282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Алгоритм строит ансамбль пошагово: каждое новое дерево исправляет ошибки предыдущих компонентов, ориентируясь на минимизацию функции потерь.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Learning rate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контролирует вклад каждого шага.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4132759"/>
            <a:ext cx="3534282" cy="165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Начальное предсказание как базовая линия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Каждое дерево корректирует остаточные ошибки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Баланс между скоростью и стабильностью обучения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559" y="2695972"/>
            <a:ext cx="4648381" cy="27588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87896" y="4814912"/>
            <a:ext cx="1155473" cy="22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Ансамбль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31684" y="4703615"/>
            <a:ext cx="1155473" cy="44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Исправление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51729" y="4814912"/>
            <a:ext cx="1155473" cy="22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Начальное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634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Функция потерь и управление ошибками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200176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Binary Cross-Entropy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измеряет расхождение между предсказаниями модели и истинными метками, учитывая не только правильность класса, но и уверенность модели в своём ответе.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3144143"/>
            <a:ext cx="2522375" cy="2223988"/>
          </a:xfrm>
          <a:prstGeom prst="roundRect">
            <a:avLst>
              <a:gd name="adj" fmla="val 339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07" y="3329980"/>
            <a:ext cx="2150711" cy="841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Штраф за уверенную ошибку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47307" y="4342011"/>
            <a:ext cx="215071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увереннее неверное предсказание — тем выше штраф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54403" y="3144143"/>
            <a:ext cx="2522375" cy="2223988"/>
          </a:xfrm>
          <a:prstGeom prst="roundRect">
            <a:avLst>
              <a:gd name="adj" fmla="val 339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0235" y="3329980"/>
            <a:ext cx="2150711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Дисбаланс классов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540235" y="4061520"/>
            <a:ext cx="215071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Взвешивание примеров для корректной оптимизации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1267" y="3144143"/>
            <a:ext cx="2522375" cy="1433711"/>
          </a:xfrm>
          <a:prstGeom prst="roundRect">
            <a:avLst>
              <a:gd name="adj" fmla="val 5260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6148" y="3349030"/>
            <a:ext cx="2112612" cy="293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scale_pos_weight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526148" y="3812778"/>
            <a:ext cx="211261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Вес положительного класса в LightGBM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14195" y="3144143"/>
            <a:ext cx="2522375" cy="1433711"/>
          </a:xfrm>
          <a:prstGeom prst="roundRect">
            <a:avLst>
              <a:gd name="adj" fmla="val 5260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9076" y="3349030"/>
            <a:ext cx="2112612" cy="293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is_unbalance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219076" y="3812778"/>
            <a:ext cx="211261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Автоматическая балансировка классов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33951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Регуляризация и контроль сложности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293739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Ограничение сложности модели предотвращает запоминание частных особенностей обучающей выборки вместо выявления общих закономерностей.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5" y="3325912"/>
            <a:ext cx="6296860" cy="2616597"/>
          </a:xfrm>
          <a:prstGeom prst="roundRect">
            <a:avLst>
              <a:gd name="adj" fmla="val 288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332262"/>
            <a:ext cx="3142080" cy="1582043"/>
          </a:xfrm>
          <a:custGeom>
            <a:avLst/>
            <a:gdLst/>
            <a:ahLst/>
            <a:cxnLst/>
            <a:rect l="l" t="t" r="r" b="b"/>
            <a:pathLst>
              <a:path w="3142080" h="1582043">
                <a:moveTo>
                  <a:pt x="62849" y="0"/>
                </a:moveTo>
                <a:lnTo>
                  <a:pt x="3142080" y="0"/>
                </a:lnTo>
                <a:lnTo>
                  <a:pt x="3142080" y="1582043"/>
                </a:lnTo>
                <a:lnTo>
                  <a:pt x="0" y="1582043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47307" y="3511748"/>
            <a:ext cx="27831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Переобучение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7307" y="3894534"/>
            <a:ext cx="278311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Слишком сложная модель запоминает шум, а не паттерны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09905" y="3332262"/>
            <a:ext cx="3142080" cy="1582043"/>
          </a:xfrm>
          <a:custGeom>
            <a:avLst/>
            <a:gdLst/>
            <a:ahLst/>
            <a:cxnLst/>
            <a:rect l="l" t="t" r="r" b="b"/>
            <a:pathLst>
              <a:path w="3142080" h="1582043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1582043"/>
                </a:lnTo>
                <a:lnTo>
                  <a:pt x="0" y="1582043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3332262"/>
            <a:ext cx="25399" cy="1582043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3989387" y="3511748"/>
            <a:ext cx="27831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Недообучение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3989387" y="3894534"/>
            <a:ext cx="278311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Слишком простая модель упускает важные зависимости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7825" y="4914305"/>
            <a:ext cx="6284160" cy="1021854"/>
          </a:xfrm>
          <a:custGeom>
            <a:avLst/>
            <a:gdLst/>
            <a:ahLst/>
            <a:cxnLst/>
            <a:rect l="l" t="t" r="r" b="b"/>
            <a:pathLst>
              <a:path w="6284160" h="1021854">
                <a:moveTo>
                  <a:pt x="0" y="0"/>
                </a:moveTo>
                <a:lnTo>
                  <a:pt x="6284160" y="0"/>
                </a:lnTo>
                <a:lnTo>
                  <a:pt x="6284160" y="959004"/>
                </a:lnTo>
                <a:arcTo wR="62849" hR="62850" stAng="0" swAng="5400000"/>
                <a:lnTo>
                  <a:pt x="62849" y="1021854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914305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6" name="Text 13"/>
          <p:cNvSpPr/>
          <p:nvPr/>
        </p:nvSpPr>
        <p:spPr>
          <a:xfrm>
            <a:off x="847307" y="5093791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Оптимальный баланс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847307" y="5476577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Глубина деревьев и минимальный размер узла как инструменты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0488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Гиперпараметры и экспериментальная настройка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23" y="2126059"/>
            <a:ext cx="2331185" cy="23312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905864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Гиперпараметры задаются до начала обучения и определяют поведение алгоритма. Их подбор ведётся через контролируемые эксперименты — изменяя по одному параметру за раз на валидационной выборке.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4801791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5071765"/>
            <a:ext cx="3520788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5194895"/>
            <a:ext cx="35207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Задать начальные параметры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1475" y="5552380"/>
            <a:ext cx="35207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Скорость обучения, количество деревьев, ограничения сложности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35354" y="4801791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5354" y="5071765"/>
            <a:ext cx="3520888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Text 8"/>
          <p:cNvSpPr/>
          <p:nvPr/>
        </p:nvSpPr>
        <p:spPr>
          <a:xfrm>
            <a:off x="4335354" y="5194895"/>
            <a:ext cx="35208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Применить early stopping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335354" y="5552380"/>
            <a:ext cx="35208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Остановка при отсутствии улучшений на валидации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09332" y="4801791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09332" y="5071765"/>
            <a:ext cx="3520888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5" name="Text 12"/>
          <p:cNvSpPr/>
          <p:nvPr/>
        </p:nvSpPr>
        <p:spPr>
          <a:xfrm>
            <a:off x="8009332" y="5194895"/>
            <a:ext cx="35208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Финальная оценка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009332" y="5552380"/>
            <a:ext cx="35208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Тестовая выборка используется только один раз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0431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Разнообразие вредоносных программ в обучении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944275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Вредоносное ПО неоднородно: разные семейства существенно различаются по структуре. Модель, обученная на несбалансированной коллекции, может хорошо распознавать распространённые угрозы, но пропускать редкие.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491" y="2722860"/>
            <a:ext cx="3318288" cy="331837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8374" y="3175943"/>
            <a:ext cx="240996" cy="2410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20225" y="3171031"/>
            <a:ext cx="47163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Структурные различия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820225" y="3558580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Каждое семейство имеет уникальные признаки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8374" y="4074269"/>
            <a:ext cx="240996" cy="2410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20225" y="4069358"/>
            <a:ext cx="47163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Смещение модели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820225" y="4456906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Дисбаланс коллекции ведёт к пропуску редких угроз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8374" y="4972596"/>
            <a:ext cx="240996" cy="2410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20225" y="4967684"/>
            <a:ext cx="47163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Временные веса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820225" y="5355233"/>
            <a:ext cx="47163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Адаптация к актуальным угрозам через взвешивание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591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Вычислительные ресурсы и оптимизация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139752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Обучение на миллионах образцов требует эффективных алгоритмов. Гистограммный подход в LightGBM группирует значения признаков, существенно сокращая объём вычислений без потери качества.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48488" y="2981523"/>
            <a:ext cx="3306581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~10×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661475" y="3791744"/>
            <a:ext cx="3480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Ускорение LightGBM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1475" y="4174530"/>
            <a:ext cx="348070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 сравнению с классическим бустингом на больших данных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42408" y="2981523"/>
            <a:ext cx="3306680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256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4355396" y="3791744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Бинов гистограммы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355396" y="4174530"/>
            <a:ext cx="348080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Типичное число групп для дискретизации признаков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6428" y="2981523"/>
            <a:ext cx="3306680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GPU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8049416" y="3791744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Ускорители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049416" y="4174530"/>
            <a:ext cx="348080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Опциональная поддержка для крупных экспериментов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1475" y="4926608"/>
            <a:ext cx="10868745" cy="693837"/>
          </a:xfrm>
          <a:prstGeom prst="roundRect">
            <a:avLst>
              <a:gd name="adj" fmla="val 10870"/>
            </a:avLst>
          </a:prstGeom>
          <a:solidFill>
            <a:srgbClr val="D5F6F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5169098"/>
            <a:ext cx="224427" cy="1794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44867" y="5142012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Стабильность и воспроизводимость экспериментов важнее максимальной скорости обучения.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4426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Сохранение модели и воспроизводимость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738006"/>
            <a:ext cx="629686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обучения — это не только файл модели. Полноценная документация включает всё необходимое для точного воспроизведения и независимой оценки перед развёртыванием.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48520"/>
            <a:ext cx="6296860" cy="8506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26435" y="274091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5925692" y="2609255"/>
            <a:ext cx="5443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Структура модели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925692" y="2894409"/>
            <a:ext cx="5443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Ансамбль деревьев со всеми условиями разделения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05386"/>
            <a:ext cx="6296860" cy="8506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26435" y="3697784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5925692" y="3566120"/>
            <a:ext cx="5443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Формат признаков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925692" y="3851275"/>
            <a:ext cx="5443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Порядок и тип входных характеристик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362252"/>
            <a:ext cx="6296860" cy="8506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26435" y="465464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5925692" y="4522986"/>
            <a:ext cx="5443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Конфигурация среды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925692" y="4808141"/>
            <a:ext cx="5443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Версии библиотек и параметры алгоритма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319117"/>
            <a:ext cx="6296860" cy="8506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26435" y="5611515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5925692" y="5479852"/>
            <a:ext cx="5443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Источник данных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925692" y="5765006"/>
            <a:ext cx="5443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Документирование обучающей выборки для аудита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Office PowerPoint</Application>
  <PresentationFormat>Широкоэкранный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Consolas</vt:lpstr>
      <vt:lpstr>Open Sans</vt:lpstr>
      <vt:lpstr>Montserrat Bold</vt:lpstr>
      <vt:lpstr>Open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2026-10-08T21:14:13Z</dcterms:created>
  <dcterms:modified xsi:type="dcterms:W3CDTF">2026-10-09T07:36:14Z</dcterms:modified>
</cp:coreProperties>
</file>