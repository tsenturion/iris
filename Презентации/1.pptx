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Nunito Sans" pitchFamily="2" charset="-52"/>
      <p:regular r:id="rId13"/>
    </p:embeddedFont>
    <p:embeddedFont>
      <p:font typeface="Nunito Sans Bold" charset="-52"/>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2" d="100"/>
          <a:sy n="102" d="100"/>
        </p:scale>
        <p:origin x="93"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0175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DFF6D5"/>
          </a:solidFill>
          <a:ln/>
        </p:spPr>
      </p:sp>
      <p:pic>
        <p:nvPicPr>
          <p:cNvPr id="3" name="Image 0" descr="preencoded.png"/>
          <p:cNvPicPr>
            <a:picLocks noChangeAspect="1"/>
          </p:cNvPicPr>
          <p:nvPr/>
        </p:nvPicPr>
        <p:blipFill>
          <a:blip r:embed="rId3"/>
          <a:stretch>
            <a:fillRect/>
          </a:stretch>
        </p:blipFill>
        <p:spPr>
          <a:xfrm>
            <a:off x="7714263" y="506909"/>
            <a:ext cx="4382879" cy="5844084"/>
          </a:xfrm>
          <a:prstGeom prst="rect">
            <a:avLst/>
          </a:prstGeom>
        </p:spPr>
      </p:pic>
      <p:sp>
        <p:nvSpPr>
          <p:cNvPr id="4" name="Text 1"/>
          <p:cNvSpPr/>
          <p:nvPr/>
        </p:nvSpPr>
        <p:spPr>
          <a:xfrm>
            <a:off x="661475" y="1638102"/>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0C0C0C"/>
                </a:solidFill>
                <a:latin typeface="Nunito Sans Bold" pitchFamily="34" charset="0"/>
                <a:ea typeface="Nunito Sans Bold" pitchFamily="34" charset="-122"/>
                <a:cs typeface="Nunito Sans Bold" pitchFamily="34" charset="-120"/>
              </a:rPr>
              <a:t>Материальная основа интеллекта</a:t>
            </a:r>
            <a:endParaRPr lang="en-US" sz="3700" dirty="0"/>
          </a:p>
        </p:txBody>
      </p:sp>
      <p:sp>
        <p:nvSpPr>
          <p:cNvPr id="5" name="Text 2"/>
          <p:cNvSpPr/>
          <p:nvPr/>
        </p:nvSpPr>
        <p:spPr>
          <a:xfrm>
            <a:off x="661475" y="3102868"/>
            <a:ext cx="6296860" cy="2116931"/>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Nunito Sans" pitchFamily="34" charset="0"/>
                <a:ea typeface="Nunito Sans" pitchFamily="34" charset="-122"/>
                <a:cs typeface="Nunito Sans" pitchFamily="34" charset="-120"/>
              </a:rPr>
              <a:t>Человеческий интеллект имеет физическую природу. Восприятие, мышление и действие связаны с конкретными процессами в нервной системе. Мозг принципиально отличается от компьютера: вместо единого процессора здесь работают взаимосвязанные структуры, обрабатывающие информацию параллельно. Для искусственного интеллекта мозг служит примером системы, способной обучаться при неполных данных.</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1676797"/>
            <a:ext cx="3504219" cy="3504307"/>
          </a:xfrm>
          <a:prstGeom prst="rect">
            <a:avLst/>
          </a:prstGeom>
        </p:spPr>
      </p:pic>
      <p:sp>
        <p:nvSpPr>
          <p:cNvPr id="3" name="Text 0"/>
          <p:cNvSpPr/>
          <p:nvPr/>
        </p:nvSpPr>
        <p:spPr>
          <a:xfrm>
            <a:off x="4633201" y="1609824"/>
            <a:ext cx="6903269" cy="118129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0C0C0C"/>
                </a:solidFill>
                <a:latin typeface="Nunito Sans Bold" pitchFamily="34" charset="0"/>
                <a:ea typeface="Nunito Sans Bold" pitchFamily="34" charset="-122"/>
                <a:cs typeface="Nunito Sans Bold" pitchFamily="34" charset="-120"/>
              </a:rPr>
              <a:t>Нейрон как единица обработки</a:t>
            </a:r>
            <a:endParaRPr lang="en-US" sz="3700" dirty="0"/>
          </a:p>
        </p:txBody>
      </p:sp>
      <p:sp>
        <p:nvSpPr>
          <p:cNvPr id="4" name="Text 1"/>
          <p:cNvSpPr/>
          <p:nvPr/>
        </p:nvSpPr>
        <p:spPr>
          <a:xfrm>
            <a:off x="4633201" y="2980134"/>
            <a:ext cx="6903269" cy="2286992"/>
          </a:xfrm>
          <a:prstGeom prst="rect">
            <a:avLst/>
          </a:prstGeom>
          <a:noFill/>
          <a:ln/>
        </p:spPr>
        <p:txBody>
          <a:bodyPr wrap="square" lIns="0" tIns="0" rIns="0" bIns="0" rtlCol="0" anchor="t">
            <a:normAutofit/>
          </a:bodyPr>
          <a:lstStyle/>
          <a:p>
            <a:pPr marL="0" indent="0" algn="l">
              <a:lnSpc>
                <a:spcPct val="133000"/>
              </a:lnSpc>
              <a:spcAft>
                <a:spcPts val="1300"/>
              </a:spcAft>
              <a:buNone/>
            </a:pPr>
            <a:r>
              <a:rPr lang="en-US" sz="1450" dirty="0">
                <a:solidFill>
                  <a:srgbClr val="000000"/>
                </a:solidFill>
                <a:latin typeface="Nunito Sans" pitchFamily="34" charset="0"/>
                <a:ea typeface="Nunito Sans" pitchFamily="34" charset="-122"/>
                <a:cs typeface="Nunito Sans" pitchFamily="34" charset="-120"/>
              </a:rPr>
              <a:t>Нейрон — основная функциональная единица нервной системы. Он получает сигналы, обрабатывает их и передаёт дальше через синапсы. На синаптическом уровне один нейрон может усиливать или ослаблять влияние на другой.</a:t>
            </a:r>
            <a:endParaRPr lang="en-US" sz="1450" dirty="0"/>
          </a:p>
          <a:p>
            <a:pPr marL="0" indent="0" algn="l">
              <a:lnSpc>
                <a:spcPct val="133000"/>
              </a:lnSpc>
              <a:buNone/>
            </a:pPr>
            <a:r>
              <a:rPr lang="en-US" sz="1450" dirty="0">
                <a:solidFill>
                  <a:srgbClr val="000000"/>
                </a:solidFill>
                <a:latin typeface="Nunito Sans" pitchFamily="34" charset="0"/>
                <a:ea typeface="Nunito Sans" pitchFamily="34" charset="-122"/>
                <a:cs typeface="Nunito Sans" pitchFamily="34" charset="-120"/>
              </a:rPr>
              <a:t>Биологический нейрон несравнимо сложнее математического элемента искусственной нейросети: он взаимодействует с тысячами других клеток и функционирует в сложной химической среде организма.</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73881"/>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0C0C0C"/>
                </a:solidFill>
                <a:latin typeface="Nunito Sans Bold" pitchFamily="34" charset="0"/>
                <a:ea typeface="Nunito Sans Bold" pitchFamily="34" charset="-122"/>
                <a:cs typeface="Nunito Sans Bold" pitchFamily="34" charset="-120"/>
              </a:rPr>
              <a:t>Сетевая организация мозга</a:t>
            </a:r>
            <a:endParaRPr lang="en-US" sz="3700" dirty="0"/>
          </a:p>
        </p:txBody>
      </p:sp>
      <p:sp>
        <p:nvSpPr>
          <p:cNvPr id="3" name="Text 1"/>
          <p:cNvSpPr/>
          <p:nvPr/>
        </p:nvSpPr>
        <p:spPr>
          <a:xfrm>
            <a:off x="661475" y="2268835"/>
            <a:ext cx="5996830" cy="3194248"/>
          </a:xfrm>
          <a:prstGeom prst="rect">
            <a:avLst/>
          </a:prstGeom>
          <a:noFill/>
          <a:ln/>
        </p:spPr>
        <p:txBody>
          <a:bodyPr wrap="square" lIns="0" tIns="0" rIns="0" bIns="0" rtlCol="0" anchor="t">
            <a:normAutofit/>
          </a:bodyPr>
          <a:lstStyle/>
          <a:p>
            <a:pPr marL="0" indent="0" algn="l">
              <a:lnSpc>
                <a:spcPct val="133000"/>
              </a:lnSpc>
              <a:spcAft>
                <a:spcPts val="1300"/>
              </a:spcAft>
              <a:buNone/>
            </a:pPr>
            <a:r>
              <a:rPr lang="en-US" sz="1450" dirty="0">
                <a:solidFill>
                  <a:srgbClr val="000000"/>
                </a:solidFill>
                <a:latin typeface="Nunito Sans" pitchFamily="34" charset="0"/>
                <a:ea typeface="Nunito Sans" pitchFamily="34" charset="-122"/>
                <a:cs typeface="Nunito Sans" pitchFamily="34" charset="-120"/>
              </a:rPr>
              <a:t>Отдельный нейрон не способен обеспечить сложное поведение. Интеллектуальные свойства возникают благодаря объединению миллиардов нейронов в сети. Распределённая организация повышает устойчивость: повреждение части нейронов не приводит к полной потере функции, так как информация поддерживается активностью нескольких участков.</a:t>
            </a:r>
            <a:endParaRPr lang="en-US" sz="1450" dirty="0"/>
          </a:p>
          <a:p>
            <a:pPr marL="0" indent="0" algn="l">
              <a:lnSpc>
                <a:spcPct val="133000"/>
              </a:lnSpc>
              <a:buNone/>
            </a:pPr>
            <a:r>
              <a:rPr lang="en-US" sz="1450" dirty="0">
                <a:solidFill>
                  <a:srgbClr val="000000"/>
                </a:solidFill>
                <a:latin typeface="Nunito Sans" pitchFamily="34" charset="0"/>
                <a:ea typeface="Nunito Sans" pitchFamily="34" charset="-122"/>
                <a:cs typeface="Nunito Sans" pitchFamily="34" charset="-120"/>
              </a:rPr>
              <a:t>Современные искусственные нейросети также используют распределённые вычисления, но их структура задаётся математически, тогда как биологическая сеть развивается через взаимодействие со средой.</a:t>
            </a:r>
            <a:endParaRPr lang="en-US" sz="1450" dirty="0"/>
          </a:p>
        </p:txBody>
      </p:sp>
      <p:pic>
        <p:nvPicPr>
          <p:cNvPr id="4" name="Image 0" descr="preencoded.png"/>
          <p:cNvPicPr>
            <a:picLocks noChangeAspect="1"/>
          </p:cNvPicPr>
          <p:nvPr/>
        </p:nvPicPr>
        <p:blipFill>
          <a:blip r:embed="rId3"/>
          <a:stretch>
            <a:fillRect/>
          </a:stretch>
        </p:blipFill>
        <p:spPr>
          <a:xfrm>
            <a:off x="7125812" y="1660624"/>
            <a:ext cx="4410659" cy="44107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DFF6D5"/>
          </a:solidFill>
          <a:ln/>
        </p:spPr>
      </p:sp>
      <p:pic>
        <p:nvPicPr>
          <p:cNvPr id="3" name="Image 0" descr="preencoded.png"/>
          <p:cNvPicPr>
            <a:picLocks noChangeAspect="1"/>
          </p:cNvPicPr>
          <p:nvPr/>
        </p:nvPicPr>
        <p:blipFill>
          <a:blip r:embed="rId3"/>
          <a:stretch>
            <a:fillRect/>
          </a:stretch>
        </p:blipFill>
        <p:spPr>
          <a:xfrm>
            <a:off x="7714263" y="506909"/>
            <a:ext cx="4382879" cy="5844084"/>
          </a:xfrm>
          <a:prstGeom prst="rect">
            <a:avLst/>
          </a:prstGeom>
        </p:spPr>
      </p:pic>
      <p:sp>
        <p:nvSpPr>
          <p:cNvPr id="4" name="Text 1"/>
          <p:cNvSpPr/>
          <p:nvPr/>
        </p:nvSpPr>
        <p:spPr>
          <a:xfrm>
            <a:off x="661475" y="1486892"/>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0C0C0C"/>
                </a:solidFill>
                <a:latin typeface="Nunito Sans Bold" pitchFamily="34" charset="0"/>
                <a:ea typeface="Nunito Sans Bold" pitchFamily="34" charset="-122"/>
                <a:cs typeface="Nunito Sans Bold" pitchFamily="34" charset="-120"/>
              </a:rPr>
              <a:t>Движение информации в нервной системе</a:t>
            </a:r>
            <a:endParaRPr lang="en-US" sz="3700" dirty="0"/>
          </a:p>
        </p:txBody>
      </p:sp>
      <p:sp>
        <p:nvSpPr>
          <p:cNvPr id="5" name="Text 2"/>
          <p:cNvSpPr/>
          <p:nvPr/>
        </p:nvSpPr>
        <p:spPr>
          <a:xfrm>
            <a:off x="661475" y="2951659"/>
            <a:ext cx="6296860" cy="2419350"/>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Nunito Sans" pitchFamily="34" charset="0"/>
                <a:ea typeface="Nunito Sans" pitchFamily="34" charset="-122"/>
                <a:cs typeface="Nunito Sans" pitchFamily="34" charset="-120"/>
              </a:rPr>
              <a:t>Мозг работает благодаря непрерывному потоку сигналов между различными участками. Органы чувств преобразуют физические воздействия в нервные импульсы, которые поступают в мозг для обработки. Важно, что мозг не пассивно принимает информацию: один и тот же сигнал обрабатывается по-разному в зависимости от текущего состояния, опыта и активности других систем. Это отличает естественный интеллект от информационных систем, где одинаковый вход обычно даёт одинаковый результат.</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188343"/>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0C0C0C"/>
                </a:solidFill>
                <a:latin typeface="Nunito Sans Bold" pitchFamily="34" charset="0"/>
                <a:ea typeface="Nunito Sans Bold" pitchFamily="34" charset="-122"/>
                <a:cs typeface="Nunito Sans Bold" pitchFamily="34" charset="-120"/>
              </a:rPr>
              <a:t>Функциональная специализация</a:t>
            </a:r>
            <a:endParaRPr lang="en-US" sz="3700" dirty="0"/>
          </a:p>
        </p:txBody>
      </p:sp>
      <p:sp>
        <p:nvSpPr>
          <p:cNvPr id="3" name="Shape 1"/>
          <p:cNvSpPr/>
          <p:nvPr/>
        </p:nvSpPr>
        <p:spPr>
          <a:xfrm>
            <a:off x="661475" y="2157016"/>
            <a:ext cx="5339820" cy="1404243"/>
          </a:xfrm>
          <a:prstGeom prst="roundRect">
            <a:avLst>
              <a:gd name="adj" fmla="val 5653"/>
            </a:avLst>
          </a:prstGeom>
          <a:solidFill>
            <a:srgbClr val="DFF6D5"/>
          </a:solidFill>
          <a:ln w="6350">
            <a:solidFill>
              <a:srgbClr val="C5DCBB"/>
            </a:solidFill>
            <a:prstDash val="solid"/>
          </a:ln>
        </p:spPr>
      </p:sp>
      <p:sp>
        <p:nvSpPr>
          <p:cNvPr id="4" name="Text 2"/>
          <p:cNvSpPr/>
          <p:nvPr/>
        </p:nvSpPr>
        <p:spPr>
          <a:xfrm>
            <a:off x="856832" y="2352377"/>
            <a:ext cx="4949106" cy="295275"/>
          </a:xfrm>
          <a:prstGeom prst="rect">
            <a:avLst/>
          </a:prstGeom>
          <a:noFill/>
          <a:ln/>
        </p:spPr>
        <p:txBody>
          <a:bodyPr wrap="none" lIns="0" tIns="0" rIns="0" bIns="0" rtlCol="0" anchor="t"/>
          <a:lstStyle/>
          <a:p>
            <a:pPr marL="0" indent="0" algn="l">
              <a:lnSpc>
                <a:spcPct val="104000"/>
              </a:lnSpc>
              <a:buNone/>
            </a:pPr>
            <a:r>
              <a:rPr lang="en-US" sz="1850" b="1" dirty="0">
                <a:solidFill>
                  <a:srgbClr val="000000"/>
                </a:solidFill>
                <a:latin typeface="Nunito Sans Bold" pitchFamily="34" charset="0"/>
                <a:ea typeface="Nunito Sans Bold" pitchFamily="34" charset="-122"/>
                <a:cs typeface="Nunito Sans Bold" pitchFamily="34" charset="-120"/>
              </a:rPr>
              <a:t>Зрительная кора</a:t>
            </a:r>
            <a:endParaRPr lang="en-US" sz="1850" dirty="0"/>
          </a:p>
        </p:txBody>
      </p:sp>
      <p:sp>
        <p:nvSpPr>
          <p:cNvPr id="5" name="Text 3"/>
          <p:cNvSpPr/>
          <p:nvPr/>
        </p:nvSpPr>
        <p:spPr>
          <a:xfrm>
            <a:off x="856832" y="2761059"/>
            <a:ext cx="4949106"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Nunito Sans" pitchFamily="34" charset="0"/>
                <a:ea typeface="Nunito Sans" pitchFamily="34" charset="-122"/>
                <a:cs typeface="Nunito Sans" pitchFamily="34" charset="-120"/>
              </a:rPr>
              <a:t>Обработка визуальных образов и пространственной информации</a:t>
            </a:r>
            <a:endParaRPr lang="en-US" sz="1450" dirty="0"/>
          </a:p>
        </p:txBody>
      </p:sp>
      <p:sp>
        <p:nvSpPr>
          <p:cNvPr id="6" name="Shape 4"/>
          <p:cNvSpPr/>
          <p:nvPr/>
        </p:nvSpPr>
        <p:spPr>
          <a:xfrm>
            <a:off x="6190301" y="2157016"/>
            <a:ext cx="5339919" cy="1404243"/>
          </a:xfrm>
          <a:prstGeom prst="roundRect">
            <a:avLst>
              <a:gd name="adj" fmla="val 5653"/>
            </a:avLst>
          </a:prstGeom>
          <a:solidFill>
            <a:srgbClr val="DFF6D5"/>
          </a:solidFill>
          <a:ln w="6350">
            <a:solidFill>
              <a:srgbClr val="C5DCBB"/>
            </a:solidFill>
            <a:prstDash val="solid"/>
          </a:ln>
        </p:spPr>
      </p:sp>
      <p:sp>
        <p:nvSpPr>
          <p:cNvPr id="7" name="Text 5"/>
          <p:cNvSpPr/>
          <p:nvPr/>
        </p:nvSpPr>
        <p:spPr>
          <a:xfrm>
            <a:off x="6385658" y="2352377"/>
            <a:ext cx="4949205" cy="295275"/>
          </a:xfrm>
          <a:prstGeom prst="rect">
            <a:avLst/>
          </a:prstGeom>
          <a:noFill/>
          <a:ln/>
        </p:spPr>
        <p:txBody>
          <a:bodyPr wrap="none" lIns="0" tIns="0" rIns="0" bIns="0" rtlCol="0" anchor="t"/>
          <a:lstStyle/>
          <a:p>
            <a:pPr marL="0" indent="0" algn="l">
              <a:lnSpc>
                <a:spcPct val="104000"/>
              </a:lnSpc>
              <a:buNone/>
            </a:pPr>
            <a:r>
              <a:rPr lang="en-US" sz="1850" b="1" dirty="0">
                <a:solidFill>
                  <a:srgbClr val="000000"/>
                </a:solidFill>
                <a:latin typeface="Nunito Sans Bold" pitchFamily="34" charset="0"/>
                <a:ea typeface="Nunito Sans Bold" pitchFamily="34" charset="-122"/>
                <a:cs typeface="Nunito Sans Bold" pitchFamily="34" charset="-120"/>
              </a:rPr>
              <a:t>Моторная кора</a:t>
            </a:r>
            <a:endParaRPr lang="en-US" sz="1850" dirty="0"/>
          </a:p>
        </p:txBody>
      </p:sp>
      <p:sp>
        <p:nvSpPr>
          <p:cNvPr id="8" name="Text 6"/>
          <p:cNvSpPr/>
          <p:nvPr/>
        </p:nvSpPr>
        <p:spPr>
          <a:xfrm>
            <a:off x="6385658" y="2761059"/>
            <a:ext cx="4949205" cy="302419"/>
          </a:xfrm>
          <a:prstGeom prst="rect">
            <a:avLst/>
          </a:prstGeom>
          <a:noFill/>
          <a:ln/>
        </p:spPr>
        <p:txBody>
          <a:bodyPr wrap="none" lIns="0" tIns="0" rIns="0" bIns="0" rtlCol="0" anchor="t"/>
          <a:lstStyle/>
          <a:p>
            <a:pPr marL="0" indent="0" algn="l">
              <a:lnSpc>
                <a:spcPct val="133000"/>
              </a:lnSpc>
              <a:buNone/>
            </a:pPr>
            <a:r>
              <a:rPr lang="en-US" sz="1450" dirty="0">
                <a:solidFill>
                  <a:srgbClr val="000000"/>
                </a:solidFill>
                <a:latin typeface="Nunito Sans" pitchFamily="34" charset="0"/>
                <a:ea typeface="Nunito Sans" pitchFamily="34" charset="-122"/>
                <a:cs typeface="Nunito Sans" pitchFamily="34" charset="-120"/>
              </a:rPr>
              <a:t>Управление движением и координация действий</a:t>
            </a:r>
            <a:endParaRPr lang="en-US" sz="1450" dirty="0"/>
          </a:p>
        </p:txBody>
      </p:sp>
      <p:sp>
        <p:nvSpPr>
          <p:cNvPr id="9" name="Shape 7"/>
          <p:cNvSpPr/>
          <p:nvPr/>
        </p:nvSpPr>
        <p:spPr>
          <a:xfrm>
            <a:off x="661475" y="3750270"/>
            <a:ext cx="5339820" cy="1101824"/>
          </a:xfrm>
          <a:prstGeom prst="roundRect">
            <a:avLst>
              <a:gd name="adj" fmla="val 7205"/>
            </a:avLst>
          </a:prstGeom>
          <a:solidFill>
            <a:srgbClr val="DFF6D5"/>
          </a:solidFill>
          <a:ln w="6350">
            <a:solidFill>
              <a:srgbClr val="C5DCBB"/>
            </a:solidFill>
            <a:prstDash val="solid"/>
          </a:ln>
        </p:spPr>
      </p:sp>
      <p:sp>
        <p:nvSpPr>
          <p:cNvPr id="10" name="Text 8"/>
          <p:cNvSpPr/>
          <p:nvPr/>
        </p:nvSpPr>
        <p:spPr>
          <a:xfrm>
            <a:off x="856832" y="3945632"/>
            <a:ext cx="4949106" cy="295275"/>
          </a:xfrm>
          <a:prstGeom prst="rect">
            <a:avLst/>
          </a:prstGeom>
          <a:noFill/>
          <a:ln/>
        </p:spPr>
        <p:txBody>
          <a:bodyPr wrap="none" lIns="0" tIns="0" rIns="0" bIns="0" rtlCol="0" anchor="t"/>
          <a:lstStyle/>
          <a:p>
            <a:pPr marL="0" indent="0" algn="l">
              <a:lnSpc>
                <a:spcPct val="104000"/>
              </a:lnSpc>
              <a:buNone/>
            </a:pPr>
            <a:r>
              <a:rPr lang="en-US" sz="1850" b="1" dirty="0">
                <a:solidFill>
                  <a:srgbClr val="000000"/>
                </a:solidFill>
                <a:latin typeface="Nunito Sans Bold" pitchFamily="34" charset="0"/>
                <a:ea typeface="Nunito Sans Bold" pitchFamily="34" charset="-122"/>
                <a:cs typeface="Nunito Sans Bold" pitchFamily="34" charset="-120"/>
              </a:rPr>
              <a:t>Речевые центры</a:t>
            </a:r>
            <a:endParaRPr lang="en-US" sz="1850" dirty="0"/>
          </a:p>
        </p:txBody>
      </p:sp>
      <p:sp>
        <p:nvSpPr>
          <p:cNvPr id="11" name="Text 9"/>
          <p:cNvSpPr/>
          <p:nvPr/>
        </p:nvSpPr>
        <p:spPr>
          <a:xfrm>
            <a:off x="856832" y="4354314"/>
            <a:ext cx="4949106" cy="302419"/>
          </a:xfrm>
          <a:prstGeom prst="rect">
            <a:avLst/>
          </a:prstGeom>
          <a:noFill/>
          <a:ln/>
        </p:spPr>
        <p:txBody>
          <a:bodyPr wrap="none" lIns="0" tIns="0" rIns="0" bIns="0" rtlCol="0" anchor="t"/>
          <a:lstStyle/>
          <a:p>
            <a:pPr marL="0" indent="0" algn="l">
              <a:lnSpc>
                <a:spcPct val="133000"/>
              </a:lnSpc>
              <a:buNone/>
            </a:pPr>
            <a:r>
              <a:rPr lang="en-US" sz="1450" dirty="0">
                <a:solidFill>
                  <a:srgbClr val="000000"/>
                </a:solidFill>
                <a:latin typeface="Nunito Sans" pitchFamily="34" charset="0"/>
                <a:ea typeface="Nunito Sans" pitchFamily="34" charset="-122"/>
                <a:cs typeface="Nunito Sans" pitchFamily="34" charset="-120"/>
              </a:rPr>
              <a:t>Понимание и порождение речи, языковая обработка</a:t>
            </a:r>
            <a:endParaRPr lang="en-US" sz="1450" dirty="0"/>
          </a:p>
        </p:txBody>
      </p:sp>
      <p:sp>
        <p:nvSpPr>
          <p:cNvPr id="12" name="Shape 10"/>
          <p:cNvSpPr/>
          <p:nvPr/>
        </p:nvSpPr>
        <p:spPr>
          <a:xfrm>
            <a:off x="6190301" y="3750270"/>
            <a:ext cx="5339919" cy="1101824"/>
          </a:xfrm>
          <a:prstGeom prst="roundRect">
            <a:avLst>
              <a:gd name="adj" fmla="val 7205"/>
            </a:avLst>
          </a:prstGeom>
          <a:solidFill>
            <a:srgbClr val="DFF6D5"/>
          </a:solidFill>
          <a:ln w="6350">
            <a:solidFill>
              <a:srgbClr val="C5DCBB"/>
            </a:solidFill>
            <a:prstDash val="solid"/>
          </a:ln>
        </p:spPr>
      </p:sp>
      <p:sp>
        <p:nvSpPr>
          <p:cNvPr id="13" name="Text 11"/>
          <p:cNvSpPr/>
          <p:nvPr/>
        </p:nvSpPr>
        <p:spPr>
          <a:xfrm>
            <a:off x="6385658" y="3945632"/>
            <a:ext cx="4949205" cy="295275"/>
          </a:xfrm>
          <a:prstGeom prst="rect">
            <a:avLst/>
          </a:prstGeom>
          <a:noFill/>
          <a:ln/>
        </p:spPr>
        <p:txBody>
          <a:bodyPr wrap="none" lIns="0" tIns="0" rIns="0" bIns="0" rtlCol="0" anchor="t"/>
          <a:lstStyle/>
          <a:p>
            <a:pPr marL="0" indent="0" algn="l">
              <a:lnSpc>
                <a:spcPct val="104000"/>
              </a:lnSpc>
              <a:buNone/>
            </a:pPr>
            <a:r>
              <a:rPr lang="en-US" sz="1850" b="1" dirty="0">
                <a:solidFill>
                  <a:srgbClr val="000000"/>
                </a:solidFill>
                <a:latin typeface="Nunito Sans Bold" pitchFamily="34" charset="0"/>
                <a:ea typeface="Nunito Sans Bold" pitchFamily="34" charset="-122"/>
                <a:cs typeface="Nunito Sans Bold" pitchFamily="34" charset="-120"/>
              </a:rPr>
              <a:t>Сенсорная кора</a:t>
            </a:r>
            <a:endParaRPr lang="en-US" sz="1850" dirty="0"/>
          </a:p>
        </p:txBody>
      </p:sp>
      <p:sp>
        <p:nvSpPr>
          <p:cNvPr id="14" name="Text 12"/>
          <p:cNvSpPr/>
          <p:nvPr/>
        </p:nvSpPr>
        <p:spPr>
          <a:xfrm>
            <a:off x="6385658" y="4354314"/>
            <a:ext cx="4949205" cy="302419"/>
          </a:xfrm>
          <a:prstGeom prst="rect">
            <a:avLst/>
          </a:prstGeom>
          <a:noFill/>
          <a:ln/>
        </p:spPr>
        <p:txBody>
          <a:bodyPr wrap="none" lIns="0" tIns="0" rIns="0" bIns="0" rtlCol="0" anchor="t"/>
          <a:lstStyle/>
          <a:p>
            <a:pPr marL="0" indent="0" algn="l">
              <a:lnSpc>
                <a:spcPct val="133000"/>
              </a:lnSpc>
              <a:buNone/>
            </a:pPr>
            <a:r>
              <a:rPr lang="en-US" sz="1450" dirty="0">
                <a:solidFill>
                  <a:srgbClr val="000000"/>
                </a:solidFill>
                <a:latin typeface="Nunito Sans" pitchFamily="34" charset="0"/>
                <a:ea typeface="Nunito Sans" pitchFamily="34" charset="-122"/>
                <a:cs typeface="Nunito Sans" pitchFamily="34" charset="-120"/>
              </a:rPr>
              <a:t>Интеграция сигналов от органов чувств</a:t>
            </a:r>
            <a:endParaRPr lang="en-US" sz="1450" dirty="0"/>
          </a:p>
        </p:txBody>
      </p:sp>
      <p:sp>
        <p:nvSpPr>
          <p:cNvPr id="15" name="Text 13"/>
          <p:cNvSpPr/>
          <p:nvPr/>
        </p:nvSpPr>
        <p:spPr>
          <a:xfrm>
            <a:off x="661475" y="5064720"/>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Nunito Sans" pitchFamily="34" charset="0"/>
                <a:ea typeface="Nunito Sans" pitchFamily="34" charset="-122"/>
                <a:cs typeface="Nunito Sans" pitchFamily="34" charset="-120"/>
              </a:rPr>
              <a:t>Сложные действия требуют совместной работы нескольких областей. Естественный интеллект — это результат взаимодействия специализированных подсистем, а не работа одного центра.</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760934"/>
            <a:ext cx="6903269" cy="118129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0C0C0C"/>
                </a:solidFill>
                <a:latin typeface="Nunito Sans Bold" pitchFamily="34" charset="0"/>
                <a:ea typeface="Nunito Sans Bold" pitchFamily="34" charset="-122"/>
                <a:cs typeface="Nunito Sans Bold" pitchFamily="34" charset="-120"/>
              </a:rPr>
              <a:t>Пластичность и изменяемость</a:t>
            </a:r>
            <a:endParaRPr lang="en-US" sz="3700" dirty="0"/>
          </a:p>
        </p:txBody>
      </p:sp>
      <p:sp>
        <p:nvSpPr>
          <p:cNvPr id="3" name="Text 1"/>
          <p:cNvSpPr/>
          <p:nvPr/>
        </p:nvSpPr>
        <p:spPr>
          <a:xfrm>
            <a:off x="661475" y="3131245"/>
            <a:ext cx="6903269" cy="1984573"/>
          </a:xfrm>
          <a:prstGeom prst="rect">
            <a:avLst/>
          </a:prstGeom>
          <a:noFill/>
          <a:ln/>
        </p:spPr>
        <p:txBody>
          <a:bodyPr wrap="square" lIns="0" tIns="0" rIns="0" bIns="0" rtlCol="0" anchor="t">
            <a:normAutofit/>
          </a:bodyPr>
          <a:lstStyle/>
          <a:p>
            <a:pPr marL="0" indent="0" algn="l">
              <a:lnSpc>
                <a:spcPct val="133000"/>
              </a:lnSpc>
              <a:spcAft>
                <a:spcPts val="1300"/>
              </a:spcAft>
              <a:buNone/>
            </a:pPr>
            <a:r>
              <a:rPr lang="en-US" sz="1450" dirty="0">
                <a:solidFill>
                  <a:srgbClr val="000000"/>
                </a:solidFill>
                <a:latin typeface="Nunito Sans" pitchFamily="34" charset="0"/>
                <a:ea typeface="Nunito Sans" pitchFamily="34" charset="-122"/>
                <a:cs typeface="Nunito Sans" pitchFamily="34" charset="-120"/>
              </a:rPr>
              <a:t>Мозг способен изменять свою организацию под воздействием опыта. Могут меняться эффективность синаптических связей, характер взаимодействия нейронных сетей и степень вовлечённости определённых участков.</a:t>
            </a:r>
            <a:endParaRPr lang="en-US" sz="1450" dirty="0"/>
          </a:p>
          <a:p>
            <a:pPr marL="0" indent="0" algn="l">
              <a:lnSpc>
                <a:spcPct val="133000"/>
              </a:lnSpc>
              <a:buNone/>
            </a:pPr>
            <a:r>
              <a:rPr lang="en-US" sz="1450" dirty="0">
                <a:solidFill>
                  <a:srgbClr val="000000"/>
                </a:solidFill>
                <a:latin typeface="Nunito Sans" pitchFamily="34" charset="0"/>
                <a:ea typeface="Nunito Sans" pitchFamily="34" charset="-122"/>
                <a:cs typeface="Nunito Sans" pitchFamily="34" charset="-120"/>
              </a:rPr>
              <a:t>Повторяющиеся воздействия приводят к устойчивым изменениям нейронных связей. В искусственном интеллекте пластичность соответствует адаптации модели через изменение параметров во время обучения.</a:t>
            </a:r>
            <a:endParaRPr lang="en-US" sz="1450" dirty="0"/>
          </a:p>
        </p:txBody>
      </p:sp>
      <p:pic>
        <p:nvPicPr>
          <p:cNvPr id="4" name="Image 0" descr="preencoded.png"/>
          <p:cNvPicPr>
            <a:picLocks noChangeAspect="1"/>
          </p:cNvPicPr>
          <p:nvPr/>
        </p:nvPicPr>
        <p:blipFill>
          <a:blip r:embed="rId3"/>
          <a:stretch>
            <a:fillRect/>
          </a:stretch>
        </p:blipFill>
        <p:spPr>
          <a:xfrm>
            <a:off x="8032251" y="1676797"/>
            <a:ext cx="3504219" cy="350430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24880"/>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0C0C0C"/>
                </a:solidFill>
                <a:latin typeface="Nunito Sans Bold" pitchFamily="34" charset="0"/>
                <a:ea typeface="Nunito Sans Bold" pitchFamily="34" charset="-122"/>
                <a:cs typeface="Nunito Sans Bold" pitchFamily="34" charset="-120"/>
              </a:rPr>
              <a:t>Адаптация к изменяющейся среде</a:t>
            </a:r>
            <a:endParaRPr lang="en-US" sz="3700" dirty="0"/>
          </a:p>
        </p:txBody>
      </p:sp>
      <p:pic>
        <p:nvPicPr>
          <p:cNvPr id="3" name="Image 0" descr="preencoded.png"/>
          <p:cNvPicPr>
            <a:picLocks noChangeAspect="1"/>
          </p:cNvPicPr>
          <p:nvPr/>
        </p:nvPicPr>
        <p:blipFill>
          <a:blip r:embed="rId3"/>
          <a:stretch>
            <a:fillRect/>
          </a:stretch>
        </p:blipFill>
        <p:spPr>
          <a:xfrm>
            <a:off x="3386549" y="1593552"/>
            <a:ext cx="5418498" cy="3519686"/>
          </a:xfrm>
          <a:prstGeom prst="rect">
            <a:avLst/>
          </a:prstGeom>
        </p:spPr>
      </p:pic>
      <p:sp>
        <p:nvSpPr>
          <p:cNvPr id="4" name="Text 1"/>
          <p:cNvSpPr/>
          <p:nvPr/>
        </p:nvSpPr>
        <p:spPr>
          <a:xfrm>
            <a:off x="3574001" y="2106557"/>
            <a:ext cx="1499040" cy="187385"/>
          </a:xfrm>
          <a:prstGeom prst="rect">
            <a:avLst/>
          </a:prstGeom>
          <a:noFill/>
          <a:ln/>
        </p:spPr>
        <p:txBody>
          <a:bodyPr wrap="none" lIns="0" tIns="0" rIns="0" bIns="0" rtlCol="0" anchor="t"/>
          <a:lstStyle/>
          <a:p>
            <a:pPr marL="0" indent="0" algn="ctr">
              <a:lnSpc>
                <a:spcPct val="104000"/>
              </a:lnSpc>
              <a:buNone/>
            </a:pPr>
            <a:r>
              <a:rPr lang="en-US" sz="1150" b="1" dirty="0">
                <a:solidFill>
                  <a:srgbClr val="0C0C0C"/>
                </a:solidFill>
                <a:latin typeface="Nunito Sans Bold" pitchFamily="34" charset="0"/>
                <a:ea typeface="Nunito Sans Bold" pitchFamily="34" charset="-122"/>
                <a:cs typeface="Nunito Sans Bold" pitchFamily="34" charset="-120"/>
              </a:rPr>
              <a:t>Опыт</a:t>
            </a:r>
            <a:endParaRPr lang="en-US" sz="1150" dirty="0"/>
          </a:p>
        </p:txBody>
      </p:sp>
      <p:sp>
        <p:nvSpPr>
          <p:cNvPr id="5" name="Text 2"/>
          <p:cNvSpPr/>
          <p:nvPr/>
        </p:nvSpPr>
        <p:spPr>
          <a:xfrm>
            <a:off x="3520702" y="2347243"/>
            <a:ext cx="1605639" cy="149908"/>
          </a:xfrm>
          <a:prstGeom prst="rect">
            <a:avLst/>
          </a:prstGeom>
          <a:noFill/>
          <a:ln/>
        </p:spPr>
        <p:txBody>
          <a:bodyPr wrap="none" lIns="0" tIns="0" rIns="0" bIns="0" rtlCol="0" anchor="t"/>
          <a:lstStyle/>
          <a:p>
            <a:pPr marL="0" indent="0" algn="ctr">
              <a:lnSpc>
                <a:spcPct val="104000"/>
              </a:lnSpc>
              <a:buNone/>
            </a:pPr>
            <a:r>
              <a:rPr lang="en-US" sz="900" dirty="0">
                <a:solidFill>
                  <a:srgbClr val="000000"/>
                </a:solidFill>
                <a:latin typeface="Nunito Sans" pitchFamily="34" charset="0"/>
                <a:ea typeface="Nunito Sans" pitchFamily="34" charset="-122"/>
                <a:cs typeface="Nunito Sans" pitchFamily="34" charset="-120"/>
              </a:rPr>
              <a:t>Встреча с новой ситуацией.</a:t>
            </a:r>
            <a:endParaRPr lang="en-US" sz="900" dirty="0"/>
          </a:p>
        </p:txBody>
      </p:sp>
      <p:sp>
        <p:nvSpPr>
          <p:cNvPr id="6" name="Text 3"/>
          <p:cNvSpPr/>
          <p:nvPr/>
        </p:nvSpPr>
        <p:spPr>
          <a:xfrm>
            <a:off x="5346200" y="4209431"/>
            <a:ext cx="1499041" cy="187385"/>
          </a:xfrm>
          <a:prstGeom prst="rect">
            <a:avLst/>
          </a:prstGeom>
          <a:noFill/>
          <a:ln/>
        </p:spPr>
        <p:txBody>
          <a:bodyPr wrap="none" lIns="0" tIns="0" rIns="0" bIns="0" rtlCol="0" anchor="t"/>
          <a:lstStyle/>
          <a:p>
            <a:pPr marL="0" indent="0" algn="ctr">
              <a:lnSpc>
                <a:spcPct val="104000"/>
              </a:lnSpc>
              <a:buNone/>
            </a:pPr>
            <a:r>
              <a:rPr lang="en-US" sz="1150" b="1" dirty="0">
                <a:solidFill>
                  <a:srgbClr val="0C0C0C"/>
                </a:solidFill>
                <a:latin typeface="Nunito Sans Bold" pitchFamily="34" charset="0"/>
                <a:ea typeface="Nunito Sans Bold" pitchFamily="34" charset="-122"/>
                <a:cs typeface="Nunito Sans Bold" pitchFamily="34" charset="-120"/>
              </a:rPr>
              <a:t>Оценка</a:t>
            </a:r>
            <a:endParaRPr lang="en-US" sz="1150" dirty="0"/>
          </a:p>
        </p:txBody>
      </p:sp>
      <p:sp>
        <p:nvSpPr>
          <p:cNvPr id="7" name="Text 4"/>
          <p:cNvSpPr/>
          <p:nvPr/>
        </p:nvSpPr>
        <p:spPr>
          <a:xfrm>
            <a:off x="5292900" y="4450116"/>
            <a:ext cx="1605639" cy="299815"/>
          </a:xfrm>
          <a:prstGeom prst="rect">
            <a:avLst/>
          </a:prstGeom>
          <a:noFill/>
          <a:ln/>
        </p:spPr>
        <p:txBody>
          <a:bodyPr wrap="square" lIns="0" tIns="0" rIns="0" bIns="0" rtlCol="0" anchor="t">
            <a:normAutofit/>
          </a:bodyPr>
          <a:lstStyle/>
          <a:p>
            <a:pPr marL="0" indent="0" algn="ctr">
              <a:lnSpc>
                <a:spcPct val="104000"/>
              </a:lnSpc>
              <a:buNone/>
            </a:pPr>
            <a:r>
              <a:rPr lang="en-US" sz="900" dirty="0">
                <a:solidFill>
                  <a:srgbClr val="000000"/>
                </a:solidFill>
                <a:latin typeface="Nunito Sans" pitchFamily="34" charset="0"/>
                <a:ea typeface="Nunito Sans" pitchFamily="34" charset="-122"/>
                <a:cs typeface="Nunito Sans" pitchFamily="34" charset="-120"/>
              </a:rPr>
              <a:t>Анализ результата: эффективен или нет.</a:t>
            </a:r>
            <a:endParaRPr lang="en-US" sz="900" dirty="0"/>
          </a:p>
        </p:txBody>
      </p:sp>
      <p:sp>
        <p:nvSpPr>
          <p:cNvPr id="8" name="Text 5"/>
          <p:cNvSpPr/>
          <p:nvPr/>
        </p:nvSpPr>
        <p:spPr>
          <a:xfrm>
            <a:off x="7118398" y="1956650"/>
            <a:ext cx="1499040" cy="187385"/>
          </a:xfrm>
          <a:prstGeom prst="rect">
            <a:avLst/>
          </a:prstGeom>
          <a:noFill/>
          <a:ln/>
        </p:spPr>
        <p:txBody>
          <a:bodyPr wrap="none" lIns="0" tIns="0" rIns="0" bIns="0" rtlCol="0" anchor="t"/>
          <a:lstStyle/>
          <a:p>
            <a:pPr marL="0" indent="0" algn="ctr">
              <a:lnSpc>
                <a:spcPct val="104000"/>
              </a:lnSpc>
              <a:buNone/>
            </a:pPr>
            <a:r>
              <a:rPr lang="en-US" sz="1150" b="1" dirty="0">
                <a:solidFill>
                  <a:srgbClr val="0C0C0C"/>
                </a:solidFill>
                <a:latin typeface="Nunito Sans Bold" pitchFamily="34" charset="0"/>
                <a:ea typeface="Nunito Sans Bold" pitchFamily="34" charset="-122"/>
                <a:cs typeface="Nunito Sans Bold" pitchFamily="34" charset="-120"/>
              </a:rPr>
              <a:t>Закрепление</a:t>
            </a:r>
            <a:endParaRPr lang="en-US" sz="1150" dirty="0"/>
          </a:p>
        </p:txBody>
      </p:sp>
      <p:sp>
        <p:nvSpPr>
          <p:cNvPr id="9" name="Text 6"/>
          <p:cNvSpPr/>
          <p:nvPr/>
        </p:nvSpPr>
        <p:spPr>
          <a:xfrm>
            <a:off x="7065099" y="2197335"/>
            <a:ext cx="1605639" cy="299816"/>
          </a:xfrm>
          <a:prstGeom prst="rect">
            <a:avLst/>
          </a:prstGeom>
          <a:noFill/>
          <a:ln/>
        </p:spPr>
        <p:txBody>
          <a:bodyPr wrap="square" lIns="0" tIns="0" rIns="0" bIns="0" rtlCol="0" anchor="t">
            <a:normAutofit/>
          </a:bodyPr>
          <a:lstStyle/>
          <a:p>
            <a:pPr marL="0" indent="0" algn="ctr">
              <a:lnSpc>
                <a:spcPct val="104000"/>
              </a:lnSpc>
              <a:buNone/>
            </a:pPr>
            <a:r>
              <a:rPr lang="en-US" sz="900" dirty="0">
                <a:solidFill>
                  <a:srgbClr val="000000"/>
                </a:solidFill>
                <a:latin typeface="Nunito Sans" pitchFamily="34" charset="0"/>
                <a:ea typeface="Nunito Sans" pitchFamily="34" charset="-122"/>
                <a:cs typeface="Nunito Sans" pitchFamily="34" charset="-120"/>
              </a:rPr>
              <a:t>Изменение поведения при следующей встрече.</a:t>
            </a:r>
            <a:endParaRPr lang="en-US" sz="900" dirty="0"/>
          </a:p>
        </p:txBody>
      </p:sp>
      <p:sp>
        <p:nvSpPr>
          <p:cNvPr id="10" name="Text 7"/>
          <p:cNvSpPr/>
          <p:nvPr/>
        </p:nvSpPr>
        <p:spPr>
          <a:xfrm>
            <a:off x="661475" y="5325864"/>
            <a:ext cx="1086874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Nunito Sans" pitchFamily="34" charset="0"/>
                <a:ea typeface="Nunito Sans" pitchFamily="34" charset="-122"/>
                <a:cs typeface="Nunito Sans" pitchFamily="34" charset="-120"/>
              </a:rPr>
              <a:t>Способность учитывать результаты предыдущих действий лежит в основе обучения. Для искусственного интеллекта этот механизм особенно важен, хотя математические методы обучения существенно отличаются от биологических процессов.</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DFF6D5"/>
          </a:solidFill>
          <a:ln/>
        </p:spPr>
      </p:sp>
      <p:pic>
        <p:nvPicPr>
          <p:cNvPr id="3" name="Image 0" descr="preencoded.png"/>
          <p:cNvPicPr>
            <a:picLocks noChangeAspect="1"/>
          </p:cNvPicPr>
          <p:nvPr/>
        </p:nvPicPr>
        <p:blipFill>
          <a:blip r:embed="rId3"/>
          <a:stretch>
            <a:fillRect/>
          </a:stretch>
        </p:blipFill>
        <p:spPr>
          <a:xfrm>
            <a:off x="89692" y="500559"/>
            <a:ext cx="4392403" cy="5856784"/>
          </a:xfrm>
          <a:prstGeom prst="rect">
            <a:avLst/>
          </a:prstGeom>
        </p:spPr>
      </p:pic>
      <p:sp>
        <p:nvSpPr>
          <p:cNvPr id="4" name="Text 1"/>
          <p:cNvSpPr/>
          <p:nvPr/>
        </p:nvSpPr>
        <p:spPr>
          <a:xfrm>
            <a:off x="5233360" y="785713"/>
            <a:ext cx="6296860" cy="1122363"/>
          </a:xfrm>
          <a:prstGeom prst="rect">
            <a:avLst/>
          </a:prstGeom>
          <a:noFill/>
          <a:ln/>
        </p:spPr>
        <p:txBody>
          <a:bodyPr wrap="square" lIns="0" tIns="0" rIns="0" bIns="0" rtlCol="0" anchor="t">
            <a:normAutofit/>
          </a:bodyPr>
          <a:lstStyle/>
          <a:p>
            <a:pPr marL="0" indent="0" algn="l">
              <a:lnSpc>
                <a:spcPct val="104000"/>
              </a:lnSpc>
              <a:buNone/>
            </a:pPr>
            <a:r>
              <a:rPr lang="en-US" sz="3500" b="1" dirty="0">
                <a:solidFill>
                  <a:srgbClr val="0C0C0C"/>
                </a:solidFill>
                <a:latin typeface="Nunito Sans Bold" pitchFamily="34" charset="0"/>
                <a:ea typeface="Nunito Sans Bold" pitchFamily="34" charset="-122"/>
                <a:cs typeface="Nunito Sans Bold" pitchFamily="34" charset="-120"/>
              </a:rPr>
              <a:t>Психологический уровень описания</a:t>
            </a:r>
            <a:endParaRPr lang="en-US" sz="3500" dirty="0"/>
          </a:p>
        </p:txBody>
      </p:sp>
      <p:sp>
        <p:nvSpPr>
          <p:cNvPr id="5" name="Text 2"/>
          <p:cNvSpPr/>
          <p:nvPr/>
        </p:nvSpPr>
        <p:spPr>
          <a:xfrm>
            <a:off x="5233360" y="2163961"/>
            <a:ext cx="6296860" cy="112037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000000"/>
                </a:solidFill>
                <a:latin typeface="Nunito Sans" pitchFamily="34" charset="0"/>
                <a:ea typeface="Nunito Sans" pitchFamily="34" charset="-122"/>
                <a:cs typeface="Nunito Sans" pitchFamily="34" charset="-120"/>
              </a:rPr>
              <a:t>Физические процессы в мозге проявляются на психологическом уровне как восприятие, внимание, память и выбор действия. Нейрофизиология раскрывает механизмы работы мозга, но для объяснения сложного поведения необходимы психологические категории.</a:t>
            </a:r>
            <a:endParaRPr lang="en-US" sz="14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3360" y="3476228"/>
            <a:ext cx="6296860" cy="1072654"/>
          </a:xfrm>
          <a:prstGeom prst="rect">
            <a:avLst/>
          </a:prstGeom>
        </p:spPr>
      </p:pic>
      <p:sp>
        <p:nvSpPr>
          <p:cNvPr id="7" name="Text 3"/>
          <p:cNvSpPr/>
          <p:nvPr/>
        </p:nvSpPr>
        <p:spPr>
          <a:xfrm>
            <a:off x="5539840" y="3681115"/>
            <a:ext cx="5785499" cy="280491"/>
          </a:xfrm>
          <a:prstGeom prst="rect">
            <a:avLst/>
          </a:prstGeom>
          <a:noFill/>
          <a:ln/>
        </p:spPr>
        <p:txBody>
          <a:bodyPr wrap="none" lIns="0" tIns="0" rIns="0" bIns="0" rtlCol="0" anchor="t"/>
          <a:lstStyle/>
          <a:p>
            <a:pPr marL="0" indent="0" algn="l">
              <a:lnSpc>
                <a:spcPct val="104000"/>
              </a:lnSpc>
              <a:buNone/>
            </a:pPr>
            <a:r>
              <a:rPr lang="en-US" sz="1750" b="1" dirty="0">
                <a:solidFill>
                  <a:srgbClr val="000000"/>
                </a:solidFill>
                <a:latin typeface="Nunito Sans Bold" pitchFamily="34" charset="0"/>
                <a:ea typeface="Nunito Sans Bold" pitchFamily="34" charset="-122"/>
                <a:cs typeface="Nunito Sans Bold" pitchFamily="34" charset="-120"/>
              </a:rPr>
              <a:t>Нейрофизиологический уровень</a:t>
            </a:r>
            <a:endParaRPr lang="en-US" sz="1750" dirty="0"/>
          </a:p>
        </p:txBody>
      </p:sp>
      <p:sp>
        <p:nvSpPr>
          <p:cNvPr id="8" name="Text 4"/>
          <p:cNvSpPr/>
          <p:nvPr/>
        </p:nvSpPr>
        <p:spPr>
          <a:xfrm>
            <a:off x="5539840" y="4063901"/>
            <a:ext cx="5785499" cy="280095"/>
          </a:xfrm>
          <a:prstGeom prst="rect">
            <a:avLst/>
          </a:prstGeom>
          <a:noFill/>
          <a:ln/>
        </p:spPr>
        <p:txBody>
          <a:bodyPr wrap="none" lIns="0" tIns="0" rIns="0" bIns="0" rtlCol="0" anchor="t"/>
          <a:lstStyle/>
          <a:p>
            <a:pPr marL="0" indent="0" algn="l">
              <a:lnSpc>
                <a:spcPct val="130000"/>
              </a:lnSpc>
              <a:buNone/>
            </a:pPr>
            <a:r>
              <a:rPr lang="en-US" sz="1400" dirty="0">
                <a:solidFill>
                  <a:srgbClr val="000000"/>
                </a:solidFill>
                <a:latin typeface="Nunito Sans" pitchFamily="34" charset="0"/>
                <a:ea typeface="Nunito Sans" pitchFamily="34" charset="-122"/>
                <a:cs typeface="Nunito Sans" pitchFamily="34" charset="-120"/>
              </a:rPr>
              <a:t>Физические механизмы: импульсы, синапсы, нейронные сети</a:t>
            </a:r>
            <a:endParaRPr lang="en-US" sz="14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33360" y="4719439"/>
            <a:ext cx="6296860" cy="1352748"/>
          </a:xfrm>
          <a:prstGeom prst="rect">
            <a:avLst/>
          </a:prstGeom>
        </p:spPr>
      </p:pic>
      <p:sp>
        <p:nvSpPr>
          <p:cNvPr id="10" name="Text 5"/>
          <p:cNvSpPr/>
          <p:nvPr/>
        </p:nvSpPr>
        <p:spPr>
          <a:xfrm>
            <a:off x="5539840" y="4924326"/>
            <a:ext cx="5785499" cy="280491"/>
          </a:xfrm>
          <a:prstGeom prst="rect">
            <a:avLst/>
          </a:prstGeom>
          <a:noFill/>
          <a:ln/>
        </p:spPr>
        <p:txBody>
          <a:bodyPr wrap="none" lIns="0" tIns="0" rIns="0" bIns="0" rtlCol="0" anchor="t"/>
          <a:lstStyle/>
          <a:p>
            <a:pPr marL="0" indent="0" algn="l">
              <a:lnSpc>
                <a:spcPct val="104000"/>
              </a:lnSpc>
              <a:buNone/>
            </a:pPr>
            <a:r>
              <a:rPr lang="en-US" sz="1750" b="1" dirty="0">
                <a:solidFill>
                  <a:srgbClr val="000000"/>
                </a:solidFill>
                <a:latin typeface="Nunito Sans Bold" pitchFamily="34" charset="0"/>
                <a:ea typeface="Nunito Sans Bold" pitchFamily="34" charset="-122"/>
                <a:cs typeface="Nunito Sans Bold" pitchFamily="34" charset="-120"/>
              </a:rPr>
              <a:t>Психологический уровень</a:t>
            </a:r>
            <a:endParaRPr lang="en-US" sz="1750" dirty="0"/>
          </a:p>
        </p:txBody>
      </p:sp>
      <p:sp>
        <p:nvSpPr>
          <p:cNvPr id="11" name="Text 6"/>
          <p:cNvSpPr/>
          <p:nvPr/>
        </p:nvSpPr>
        <p:spPr>
          <a:xfrm>
            <a:off x="5539840" y="5307112"/>
            <a:ext cx="5785499"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000000"/>
                </a:solidFill>
                <a:latin typeface="Nunito Sans" pitchFamily="34" charset="0"/>
                <a:ea typeface="Nunito Sans" pitchFamily="34" charset="-122"/>
                <a:cs typeface="Nunito Sans" pitchFamily="34" charset="-120"/>
              </a:rPr>
              <a:t>Закономерности поведения: восприятие, внимание, память, решения</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30535"/>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0C0C0C"/>
                </a:solidFill>
                <a:latin typeface="Nunito Sans Bold" pitchFamily="34" charset="0"/>
                <a:ea typeface="Nunito Sans Bold" pitchFamily="34" charset="-122"/>
                <a:cs typeface="Nunito Sans Bold" pitchFamily="34" charset="-120"/>
              </a:rPr>
              <a:t>Влияние состояния организма</a:t>
            </a:r>
            <a:endParaRPr lang="en-US" sz="3700" dirty="0"/>
          </a:p>
        </p:txBody>
      </p:sp>
      <p:pic>
        <p:nvPicPr>
          <p:cNvPr id="3" name="Image 0" descr="preencoded.png"/>
          <p:cNvPicPr>
            <a:picLocks noChangeAspect="1"/>
          </p:cNvPicPr>
          <p:nvPr/>
        </p:nvPicPr>
        <p:blipFill>
          <a:blip r:embed="rId3"/>
          <a:stretch>
            <a:fillRect/>
          </a:stretch>
        </p:blipFill>
        <p:spPr>
          <a:xfrm>
            <a:off x="661475" y="1717278"/>
            <a:ext cx="4297354" cy="4297462"/>
          </a:xfrm>
          <a:prstGeom prst="rect">
            <a:avLst/>
          </a:prstGeom>
        </p:spPr>
      </p:pic>
      <p:sp>
        <p:nvSpPr>
          <p:cNvPr id="4" name="Text 1"/>
          <p:cNvSpPr/>
          <p:nvPr/>
        </p:nvSpPr>
        <p:spPr>
          <a:xfrm>
            <a:off x="5426336" y="2420045"/>
            <a:ext cx="6110135" cy="2891830"/>
          </a:xfrm>
          <a:prstGeom prst="rect">
            <a:avLst/>
          </a:prstGeom>
          <a:noFill/>
          <a:ln/>
        </p:spPr>
        <p:txBody>
          <a:bodyPr wrap="square" lIns="0" tIns="0" rIns="0" bIns="0" rtlCol="0" anchor="t">
            <a:normAutofit/>
          </a:bodyPr>
          <a:lstStyle/>
          <a:p>
            <a:pPr marL="0" indent="0" algn="l">
              <a:lnSpc>
                <a:spcPct val="133000"/>
              </a:lnSpc>
              <a:spcAft>
                <a:spcPts val="1300"/>
              </a:spcAft>
              <a:buNone/>
            </a:pPr>
            <a:r>
              <a:rPr lang="en-US" sz="1450" dirty="0">
                <a:solidFill>
                  <a:srgbClr val="000000"/>
                </a:solidFill>
                <a:latin typeface="Nunito Sans" pitchFamily="34" charset="0"/>
                <a:ea typeface="Nunito Sans" pitchFamily="34" charset="-122"/>
                <a:cs typeface="Nunito Sans" pitchFamily="34" charset="-120"/>
              </a:rPr>
              <a:t>Мозг не работает независимо от состояния организма. Утомление, уровень активности, гормональные изменения и другие физиологические процессы влияют на обработку информации и поведение.</a:t>
            </a:r>
            <a:endParaRPr lang="en-US" sz="1450" dirty="0"/>
          </a:p>
          <a:p>
            <a:pPr marL="0" indent="0" algn="l">
              <a:lnSpc>
                <a:spcPct val="133000"/>
              </a:lnSpc>
              <a:buNone/>
            </a:pPr>
            <a:r>
              <a:rPr lang="en-US" sz="1450" dirty="0">
                <a:solidFill>
                  <a:srgbClr val="000000"/>
                </a:solidFill>
                <a:latin typeface="Nunito Sans" pitchFamily="34" charset="0"/>
                <a:ea typeface="Nunito Sans" pitchFamily="34" charset="-122"/>
                <a:cs typeface="Nunito Sans" pitchFamily="34" charset="-120"/>
              </a:rPr>
              <a:t>Это важное отличие от программных систем, где одинаковые входные данные обычно дают одинаковый результат. При моделировании естественного интеллекта воспроизвести такую зависимость чрезвычайно сложно, поэтому большинство систем ИИ абстрагируются от физиологического состояния.</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DFF6D5"/>
          </a:solidFill>
          <a:ln/>
        </p:spPr>
      </p:sp>
      <p:pic>
        <p:nvPicPr>
          <p:cNvPr id="3" name="Image 0" descr="preencoded.png"/>
          <p:cNvPicPr>
            <a:picLocks noChangeAspect="1"/>
          </p:cNvPicPr>
          <p:nvPr/>
        </p:nvPicPr>
        <p:blipFill>
          <a:blip r:embed="rId3"/>
          <a:stretch>
            <a:fillRect/>
          </a:stretch>
        </p:blipFill>
        <p:spPr>
          <a:xfrm>
            <a:off x="89692" y="500559"/>
            <a:ext cx="4392403" cy="5856784"/>
          </a:xfrm>
          <a:prstGeom prst="rect">
            <a:avLst/>
          </a:prstGeom>
        </p:spPr>
      </p:pic>
      <p:sp>
        <p:nvSpPr>
          <p:cNvPr id="4" name="Text 1"/>
          <p:cNvSpPr/>
          <p:nvPr/>
        </p:nvSpPr>
        <p:spPr>
          <a:xfrm>
            <a:off x="5233360" y="608211"/>
            <a:ext cx="6296860" cy="1122363"/>
          </a:xfrm>
          <a:prstGeom prst="rect">
            <a:avLst/>
          </a:prstGeom>
          <a:noFill/>
          <a:ln/>
        </p:spPr>
        <p:txBody>
          <a:bodyPr wrap="square" lIns="0" tIns="0" rIns="0" bIns="0" rtlCol="0" anchor="t">
            <a:normAutofit/>
          </a:bodyPr>
          <a:lstStyle/>
          <a:p>
            <a:pPr marL="0" indent="0" algn="l">
              <a:lnSpc>
                <a:spcPct val="104000"/>
              </a:lnSpc>
              <a:buNone/>
            </a:pPr>
            <a:r>
              <a:rPr lang="en-US" sz="3500" b="1" dirty="0">
                <a:solidFill>
                  <a:srgbClr val="0C0C0C"/>
                </a:solidFill>
                <a:latin typeface="Nunito Sans Bold" pitchFamily="34" charset="0"/>
                <a:ea typeface="Nunito Sans Bold" pitchFamily="34" charset="-122"/>
                <a:cs typeface="Nunito Sans Bold" pitchFamily="34" charset="-120"/>
              </a:rPr>
              <a:t>Принципы для искусственного интеллекта</a:t>
            </a:r>
            <a:endParaRPr lang="en-US" sz="35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3360" y="1986459"/>
            <a:ext cx="448854" cy="448866"/>
          </a:xfrm>
          <a:prstGeom prst="rect">
            <a:avLst/>
          </a:prstGeom>
        </p:spPr>
      </p:pic>
      <p:sp>
        <p:nvSpPr>
          <p:cNvPr id="6" name="Text 2"/>
          <p:cNvSpPr/>
          <p:nvPr/>
        </p:nvSpPr>
        <p:spPr>
          <a:xfrm>
            <a:off x="5895431" y="1986459"/>
            <a:ext cx="5634790" cy="280491"/>
          </a:xfrm>
          <a:prstGeom prst="rect">
            <a:avLst/>
          </a:prstGeom>
          <a:noFill/>
          <a:ln/>
        </p:spPr>
        <p:txBody>
          <a:bodyPr wrap="none" lIns="0" tIns="0" rIns="0" bIns="0" rtlCol="0" anchor="t"/>
          <a:lstStyle/>
          <a:p>
            <a:pPr marL="0" indent="0" algn="l">
              <a:lnSpc>
                <a:spcPct val="104000"/>
              </a:lnSpc>
              <a:buNone/>
            </a:pPr>
            <a:r>
              <a:rPr lang="en-US" sz="1750" b="1" dirty="0">
                <a:solidFill>
                  <a:srgbClr val="000000"/>
                </a:solidFill>
                <a:latin typeface="Nunito Sans Bold" pitchFamily="34" charset="0"/>
                <a:ea typeface="Nunito Sans Bold" pitchFamily="34" charset="-122"/>
                <a:cs typeface="Nunito Sans Bold" pitchFamily="34" charset="-120"/>
              </a:rPr>
              <a:t>Распределённая обработка</a:t>
            </a:r>
            <a:endParaRPr lang="en-US" sz="1750" dirty="0"/>
          </a:p>
        </p:txBody>
      </p:sp>
      <p:sp>
        <p:nvSpPr>
          <p:cNvPr id="7" name="Text 3"/>
          <p:cNvSpPr/>
          <p:nvPr/>
        </p:nvSpPr>
        <p:spPr>
          <a:xfrm>
            <a:off x="5895431" y="2369245"/>
            <a:ext cx="5634790"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000000"/>
                </a:solidFill>
                <a:latin typeface="Nunito Sans" pitchFamily="34" charset="0"/>
                <a:ea typeface="Nunito Sans" pitchFamily="34" charset="-122"/>
                <a:cs typeface="Nunito Sans" pitchFamily="34" charset="-120"/>
              </a:rPr>
              <a:t>Информация обрабатывается параллельно множеством элементов, а не единым центром</a:t>
            </a:r>
            <a:endParaRPr lang="en-US" sz="14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33360" y="3270548"/>
            <a:ext cx="448854" cy="448866"/>
          </a:xfrm>
          <a:prstGeom prst="rect">
            <a:avLst/>
          </a:prstGeom>
        </p:spPr>
      </p:pic>
      <p:sp>
        <p:nvSpPr>
          <p:cNvPr id="9" name="Text 4"/>
          <p:cNvSpPr/>
          <p:nvPr/>
        </p:nvSpPr>
        <p:spPr>
          <a:xfrm>
            <a:off x="5895431" y="3270548"/>
            <a:ext cx="5634790" cy="280491"/>
          </a:xfrm>
          <a:prstGeom prst="rect">
            <a:avLst/>
          </a:prstGeom>
          <a:noFill/>
          <a:ln/>
        </p:spPr>
        <p:txBody>
          <a:bodyPr wrap="none" lIns="0" tIns="0" rIns="0" bIns="0" rtlCol="0" anchor="t"/>
          <a:lstStyle/>
          <a:p>
            <a:pPr marL="0" indent="0" algn="l">
              <a:lnSpc>
                <a:spcPct val="104000"/>
              </a:lnSpc>
              <a:buNone/>
            </a:pPr>
            <a:r>
              <a:rPr lang="en-US" sz="1750" b="1" dirty="0">
                <a:solidFill>
                  <a:srgbClr val="000000"/>
                </a:solidFill>
                <a:latin typeface="Nunito Sans Bold" pitchFamily="34" charset="0"/>
                <a:ea typeface="Nunito Sans Bold" pitchFamily="34" charset="-122"/>
                <a:cs typeface="Nunito Sans Bold" pitchFamily="34" charset="-120"/>
              </a:rPr>
              <a:t>Адаптация и обучение</a:t>
            </a:r>
            <a:endParaRPr lang="en-US" sz="1750" dirty="0"/>
          </a:p>
        </p:txBody>
      </p:sp>
      <p:sp>
        <p:nvSpPr>
          <p:cNvPr id="10" name="Text 5"/>
          <p:cNvSpPr/>
          <p:nvPr/>
        </p:nvSpPr>
        <p:spPr>
          <a:xfrm>
            <a:off x="5895431" y="3653334"/>
            <a:ext cx="5634790"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000000"/>
                </a:solidFill>
                <a:latin typeface="Nunito Sans" pitchFamily="34" charset="0"/>
                <a:ea typeface="Nunito Sans" pitchFamily="34" charset="-122"/>
                <a:cs typeface="Nunito Sans" pitchFamily="34" charset="-120"/>
              </a:rPr>
              <a:t>Изменение связей между элементами на основе опыта и результатов</a:t>
            </a:r>
            <a:endParaRPr lang="en-US" sz="14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33360" y="4554637"/>
            <a:ext cx="448854" cy="448866"/>
          </a:xfrm>
          <a:prstGeom prst="rect">
            <a:avLst/>
          </a:prstGeom>
        </p:spPr>
      </p:pic>
      <p:sp>
        <p:nvSpPr>
          <p:cNvPr id="12" name="Text 6"/>
          <p:cNvSpPr/>
          <p:nvPr/>
        </p:nvSpPr>
        <p:spPr>
          <a:xfrm>
            <a:off x="5895431" y="4554637"/>
            <a:ext cx="5634790" cy="280491"/>
          </a:xfrm>
          <a:prstGeom prst="rect">
            <a:avLst/>
          </a:prstGeom>
          <a:noFill/>
          <a:ln/>
        </p:spPr>
        <p:txBody>
          <a:bodyPr wrap="none" lIns="0" tIns="0" rIns="0" bIns="0" rtlCol="0" anchor="t"/>
          <a:lstStyle/>
          <a:p>
            <a:pPr marL="0" indent="0" algn="l">
              <a:lnSpc>
                <a:spcPct val="104000"/>
              </a:lnSpc>
              <a:buNone/>
            </a:pPr>
            <a:r>
              <a:rPr lang="en-US" sz="1750" b="1" dirty="0">
                <a:solidFill>
                  <a:srgbClr val="000000"/>
                </a:solidFill>
                <a:latin typeface="Nunito Sans Bold" pitchFamily="34" charset="0"/>
                <a:ea typeface="Nunito Sans Bold" pitchFamily="34" charset="-122"/>
                <a:cs typeface="Nunito Sans Bold" pitchFamily="34" charset="-120"/>
              </a:rPr>
              <a:t>Работа с неполными данными</a:t>
            </a:r>
            <a:endParaRPr lang="en-US" sz="1750" dirty="0"/>
          </a:p>
        </p:txBody>
      </p:sp>
      <p:sp>
        <p:nvSpPr>
          <p:cNvPr id="13" name="Text 7"/>
          <p:cNvSpPr/>
          <p:nvPr/>
        </p:nvSpPr>
        <p:spPr>
          <a:xfrm>
            <a:off x="5895431" y="4937423"/>
            <a:ext cx="5634790"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000000"/>
                </a:solidFill>
                <a:latin typeface="Nunito Sans" pitchFamily="34" charset="0"/>
                <a:ea typeface="Nunito Sans" pitchFamily="34" charset="-122"/>
                <a:cs typeface="Nunito Sans" pitchFamily="34" charset="-120"/>
              </a:rPr>
              <a:t>Способность принимать решения при отсутствии полной информации</a:t>
            </a:r>
            <a:endParaRPr lang="en-US" sz="1400" dirty="0"/>
          </a:p>
        </p:txBody>
      </p:sp>
      <p:sp>
        <p:nvSpPr>
          <p:cNvPr id="14" name="Text 8"/>
          <p:cNvSpPr/>
          <p:nvPr/>
        </p:nvSpPr>
        <p:spPr>
          <a:xfrm>
            <a:off x="5233360" y="5689501"/>
            <a:ext cx="6296860"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000000"/>
                </a:solidFill>
                <a:latin typeface="Nunito Sans" pitchFamily="34" charset="0"/>
                <a:ea typeface="Nunito Sans" pitchFamily="34" charset="-122"/>
                <a:cs typeface="Nunito Sans" pitchFamily="34" charset="-120"/>
              </a:rPr>
              <a:t>Мозг следует рассматривать не как техническую схему для копирования, а как источник принципов организации интеллектуального поведения.</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607</Words>
  <Application>Microsoft Office PowerPoint</Application>
  <PresentationFormat>Широкоэкранный</PresentationFormat>
  <Paragraphs>58</Paragraphs>
  <Slides>10</Slides>
  <Notes>10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10</vt:i4>
      </vt:variant>
    </vt:vector>
  </HeadingPairs>
  <TitlesOfParts>
    <vt:vector size="14" baseType="lpstr">
      <vt:lpstr>Nunito Sans Bold</vt:lpstr>
      <vt:lpstr>Arial</vt:lpstr>
      <vt:lpstr>Nunito Sans</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Ефимов Матвей Александрович</cp:lastModifiedBy>
  <cp:revision>2</cp:revision>
  <dcterms:created xsi:type="dcterms:W3CDTF">2026-10-04T21:01:27Z</dcterms:created>
  <dcterms:modified xsi:type="dcterms:W3CDTF">2026-10-04T21:13:30Z</dcterms:modified>
</cp:coreProperties>
</file>