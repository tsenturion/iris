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  <p:italic r:id="rId14"/>
    </p:embeddedFont>
    <p:embeddedFont>
      <p:font typeface="Nunito Sans Bold" charset="-52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6994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40632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Определение целевого события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2664520"/>
            <a:ext cx="2952478" cy="2737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Первый шаг — точно сформулировать, что именно должна распознавать система. Размытые определения вроде «найти плохое поведение» не работают.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Нужна конкретная классификация: нормальная активность или нарушение, либо несколько типов инцидентов — компрометация, автоматизация, злоупотребление функциями.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012207" y="2695277"/>
            <a:ext cx="2952478" cy="1752203"/>
          </a:xfrm>
          <a:prstGeom prst="roundRect">
            <a:avLst>
              <a:gd name="adj" fmla="val 3851"/>
            </a:avLst>
          </a:prstGeom>
          <a:solidFill>
            <a:srgbClr val="DFF6D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2838" y="2902744"/>
            <a:ext cx="200814" cy="1606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34283" y="2858195"/>
            <a:ext cx="2269771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Каждый пример в обучающих данных должен иметь известный правильный класс. Задача должна соответствовать реальному защитному процессу.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012207" y="4601071"/>
            <a:ext cx="2952478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Нельзя смешивать разные типы нарушений с техническими ошибками — это разрушает смысл обучения.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2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65230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Источники достоверной разметки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61475" y="1613396"/>
            <a:ext cx="629686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Метки в обучающих данных — это основа качества модели. Они должны опираться на подтверждённую информацию: результаты расследований, подтверждения пользователей, решения специалистов по безопасности.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402483"/>
            <a:ext cx="6296860" cy="10846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7928" y="2572742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Надёжные источники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907928" y="2881511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Расследования инцидентов, верификация пользователей, экспертные решения команды безопасности.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608090"/>
            <a:ext cx="6296860" cy="10846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7928" y="3778349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Опасный антипаттерн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907928" y="4087118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Использовать автоматические предположения старой системы как истину — ошибочная метка воспринимается моделью как образец правильного поведения.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813697"/>
            <a:ext cx="6296860" cy="10846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07928" y="4983956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Прямая зависимость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907928" y="5292725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Надёжность разметки напрямую определяет надёжность новой модели. Мусор на входе — мусор на выходе.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305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Границы обучающего примера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638" y="1701899"/>
            <a:ext cx="3013793" cy="30138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107902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Нужно определить, что считать одним примером: отдельный запрос, сессия, операция или последовательность действий. Выбор зависит от типа нарушения.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3227784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FCF2B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3508177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3445073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Единица обучения должна совпадать с единицей принятия решения. Несоответствие разрушает смысл признаков.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61475" y="5141020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56832" y="533638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Захват аккаунта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856832" y="5745063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Анализируют целую сессию целиком.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190301" y="5141020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85658" y="5336381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Подозрительная транзакция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6385658" y="5745063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Конкретная операция с контекстом.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19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Бинарная или многоклассовая задача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9584" y="1832769"/>
            <a:ext cx="5832528" cy="3343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61282" y="2951184"/>
            <a:ext cx="1908952" cy="30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Бинарная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3761282" y="3343819"/>
            <a:ext cx="1908952" cy="733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Нормально vs нарушение; просто; быстро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532752" y="2885971"/>
            <a:ext cx="1908952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Многоклассная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32752" y="3278606"/>
            <a:ext cx="1908952" cy="733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Тип нарушения; сложнее; требует данных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1475" y="538906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 практике многоклассовая задача сложнее: разные нарушения могут иметь похожие признаки, а один инцидент способен сочетать несколько сценариев одновременно.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265821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Формирование обучающей выборки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2589709"/>
            <a:ext cx="2952478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Набор должен содержать как нормальные, так и нарушающие примеры, отражающие реальную среду. Нельзя строить модель только на искусственных атаках.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012207" y="2589709"/>
            <a:ext cx="2952478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Критичен временной период: приложение меняется, появляются новые функции, эволюционируют способы мошенничества. Узкий интервал приводит к переобучению на особенностях периода.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012207" y="4169668"/>
            <a:ext cx="2952478" cy="1276747"/>
          </a:xfrm>
          <a:prstGeom prst="roundRect">
            <a:avLst>
              <a:gd name="adj" fmla="val 5285"/>
            </a:avLst>
          </a:prstGeom>
          <a:solidFill>
            <a:srgbClr val="DFF6D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2838" y="4377134"/>
            <a:ext cx="200814" cy="1606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34283" y="4332585"/>
            <a:ext cx="2269771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Подготовка данных — это не механическая выгрузка логов, а осознанный отбор и связывание данных.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51128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Проблема дисбаланса классов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54324"/>
            <a:ext cx="4954464" cy="35663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1267" y="2015927"/>
            <a:ext cx="5215303" cy="1834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 реальности нормальных событий значительно больше, чем подтверждённых нарушений. На миллионы обычных сессий приходится небольшое количество инцидентов.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Без компенсации модель ориентируется на основной класс и почти всегда отвечает «нормально» — показывая высокую точность лишь потому, что нарушения редки.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321267" y="4041874"/>
            <a:ext cx="5215303" cy="1236960"/>
          </a:xfrm>
          <a:prstGeom prst="roundRect">
            <a:avLst>
              <a:gd name="adj" fmla="val 6097"/>
            </a:avLst>
          </a:prstGeom>
          <a:solidFill>
            <a:srgbClr val="FCF2B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749" y="4297065"/>
            <a:ext cx="224427" cy="1794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04659" y="4240213"/>
            <a:ext cx="4452429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Нужно контролировать представленность классов: менять выборку, использовать веса ошибок или другие методы компенсации.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76326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Утечка целевой информации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1875334"/>
            <a:ext cx="629686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Опасная ошибка: входные признаки содержат информацию, которая уже раскрывает ответ о нарушении. Модель показывает отличное качество на тестах, но не учится распознавать событие заранее.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742109"/>
            <a:ext cx="6296860" cy="14054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8163" y="3294162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459670" y="2921794"/>
            <a:ext cx="531898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Пример ловушки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459670" y="3254673"/>
            <a:ext cx="531898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После подтверждения мошенничества система ставит специальный статус. Если статус попадает в признаки — модель «читает ответ», а не учится.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284067"/>
            <a:ext cx="6296860" cy="140543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8163" y="4836120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2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1459670" y="4463752"/>
            <a:ext cx="531898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Правило проверки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1459670" y="4796631"/>
            <a:ext cx="531898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Каждый признак проверяют относительно момента решения: доступна ли эта информация </a:t>
            </a:r>
            <a:r>
              <a:rPr lang="en-US" sz="1250" i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до</a:t>
            </a: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того, как стало известно о нарушении?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509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Выбор алгоритма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73932"/>
            <a:ext cx="4184049" cy="41841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13031" y="2462609"/>
            <a:ext cx="622344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Выбор зависит от формы данных. Структурированная таблица с числовыми и категориальными признаками хорошо работает с классическими алгоритмами. Сложные последовательности или текст требуют более продвинутых моделей.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313031" y="3884910"/>
            <a:ext cx="6223440" cy="1341834"/>
          </a:xfrm>
          <a:prstGeom prst="roundRect">
            <a:avLst>
              <a:gd name="adj" fmla="val 5916"/>
            </a:avLst>
          </a:prstGeom>
          <a:solidFill>
            <a:srgbClr val="DFF6D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2038" y="4165302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27279" y="4102199"/>
            <a:ext cx="542018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Для защиты важна интерпретируемость: специалист должен понять, почему сессия получила высокий риск. Иногда прозрачный алгоритм практичнее «чёрного ящика».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176086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Обучение на известных инцидентах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2599829"/>
            <a:ext cx="2940969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изучает закономерности из уже известных нарушений. Если определённый тип мошенничества никогда не встречался в обучающем наборе, модель не обязана распознать его правильно.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595601" y="2599829"/>
            <a:ext cx="2940969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Поэтому обучение с учителем дополняется другими механизмами для поиска необычной структуры в неразмеченных данных.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233360" y="4461173"/>
            <a:ext cx="6296860" cy="1227435"/>
          </a:xfrm>
          <a:prstGeom prst="roundRect">
            <a:avLst>
              <a:gd name="adj" fmla="val 582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39710" y="4467523"/>
            <a:ext cx="3142080" cy="1214735"/>
          </a:xfrm>
          <a:custGeom>
            <a:avLst/>
            <a:gdLst/>
            <a:ahLst/>
            <a:cxnLst/>
            <a:rect l="l" t="t" r="r" b="b"/>
            <a:pathLst>
              <a:path w="3142080" h="1214735">
                <a:moveTo>
                  <a:pt x="59541" y="0"/>
                </a:moveTo>
                <a:lnTo>
                  <a:pt x="3142080" y="0"/>
                </a:lnTo>
                <a:lnTo>
                  <a:pt x="3142080" y="1214735"/>
                </a:lnTo>
                <a:lnTo>
                  <a:pt x="59541" y="1214735"/>
                </a:lnTo>
                <a:arcTo wR="59541" hR="59542" stAng="5400000" swAng="5400000"/>
                <a:lnTo>
                  <a:pt x="0" y="59542"/>
                </a:lnTo>
                <a:arcTo wR="59541" hR="59542" stAng="10800000" swAng="5400000"/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9" name="Text 6"/>
          <p:cNvSpPr/>
          <p:nvPr/>
        </p:nvSpPr>
        <p:spPr>
          <a:xfrm>
            <a:off x="5409767" y="4637584"/>
            <a:ext cx="280196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Сила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409767" y="4995069"/>
            <a:ext cx="2801967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Отлично работает для повторяющихся форм нарушений.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381790" y="4467523"/>
            <a:ext cx="3142080" cy="1214735"/>
          </a:xfrm>
          <a:custGeom>
            <a:avLst/>
            <a:gdLst/>
            <a:ahLst/>
            <a:cxnLst/>
            <a:rect l="l" t="t" r="r" b="b"/>
            <a:pathLst>
              <a:path w="3142080" h="1214735">
                <a:moveTo>
                  <a:pt x="0" y="0"/>
                </a:moveTo>
                <a:lnTo>
                  <a:pt x="3082539" y="0"/>
                </a:lnTo>
                <a:arcTo wR="59541" hR="59542" stAng="16200000" swAng="5400000"/>
                <a:lnTo>
                  <a:pt x="3142080" y="1155193"/>
                </a:lnTo>
                <a:arcTo wR="59541" hR="59542" stAng="0" swAng="5400000"/>
                <a:lnTo>
                  <a:pt x="0" y="1214735"/>
                </a:lnTo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12" name="Shape 9"/>
          <p:cNvSpPr/>
          <p:nvPr/>
        </p:nvSpPr>
        <p:spPr>
          <a:xfrm>
            <a:off x="8381790" y="4467523"/>
            <a:ext cx="19050" cy="1214735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3" name="Text 10"/>
          <p:cNvSpPr/>
          <p:nvPr/>
        </p:nvSpPr>
        <p:spPr>
          <a:xfrm>
            <a:off x="8551847" y="4637584"/>
            <a:ext cx="280196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Ограничение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551847" y="4995069"/>
            <a:ext cx="2801967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 универсальный детектор всего неизвестного.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3485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Место модели в системе защиты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022" y="1440755"/>
            <a:ext cx="4373652" cy="30140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18604" y="3316215"/>
            <a:ext cx="1195177" cy="15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Аутентификация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37065" y="2050515"/>
            <a:ext cx="1234005" cy="15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ML-модель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865454" y="3686904"/>
            <a:ext cx="1195177" cy="15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Журналирование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926370" y="2224494"/>
            <a:ext cx="1195176" cy="318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Экспертный анализ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61475" y="4731246"/>
            <a:ext cx="5238421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получает характеристики текущей активности и сопоставляет её с закономерностями из подтверждённых примеров. Это не полное понимание намерений — это классификация по известным паттернам.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98149" y="4762004"/>
            <a:ext cx="5238421" cy="1276747"/>
          </a:xfrm>
          <a:prstGeom prst="roundRect">
            <a:avLst>
              <a:gd name="adj" fmla="val 5285"/>
            </a:avLst>
          </a:prstGeom>
          <a:solidFill>
            <a:srgbClr val="DFF6D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781" y="4969470"/>
            <a:ext cx="200814" cy="160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20225" y="4924921"/>
            <a:ext cx="4555713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Машинное обучение закрывает область, где фиксированного правила недостаточно, но есть достаточно примеров известных нарушений. Модель — один из механизмов, а не единственный.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Microsoft Office PowerPoint</Application>
  <PresentationFormat>Широкоэкранный</PresentationFormat>
  <Paragraphs>69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Nunito Sans</vt:lpstr>
      <vt:lpstr>Arial</vt:lpstr>
      <vt:lpstr>Nunito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2026-10-07T18:46:16Z</dcterms:created>
  <dcterms:modified xsi:type="dcterms:W3CDTF">2026-10-07T18:47:56Z</dcterms:modified>
</cp:coreProperties>
</file>